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68680" y="1417320"/>
            <a:ext cx="1051560" cy="1051560"/>
          </a:xfrm>
          <a:prstGeom prst="rect">
            <a:avLst/>
          </a:prstGeom>
        </p:spPr>
      </p:pic>
      <p:sp>
        <p:nvSpPr>
          <p:cNvPr id="3" name="Text 0"/>
          <p:cNvSpPr txBox="1"/>
          <p:nvPr/>
        </p:nvSpPr>
        <p:spPr>
          <a:xfrm>
            <a:off x="822960" y="274320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Company Values Extractor</a:t>
            </a:r>
            <a:endParaRPr lang="en-US" sz="4400" dirty="0"/>
          </a:p>
        </p:txBody>
      </p:sp>
      <p:sp>
        <p:nvSpPr>
          <p:cNvPr id="4" name="Text 1"/>
          <p:cNvSpPr txBox="1"/>
          <p:nvPr/>
        </p:nvSpPr>
        <p:spPr>
          <a:xfrm>
            <a:off x="868680" y="3703320"/>
            <a:ext cx="10058400" cy="502920"/>
          </a:xfrm>
          <a:prstGeom prst="rect">
            <a:avLst/>
          </a:prstGeom>
          <a:noFill/>
          <a:ln/>
        </p:spPr>
        <p:txBody>
          <a:bodyPr wrap="square" lIns="0" tIns="0" rIns="0" bIns="0" rtlCol="0" anchor="ctr"/>
          <a:lstStyle/>
          <a:p>
            <a:pPr indent="0" marL="0">
              <a:buNone/>
            </a:pPr>
            <a:r>
              <a:rPr lang="en-US" sz="2000" dirty="0">
                <a:solidFill>
                  <a:srgbClr val="EAF0F6"/>
                </a:solidFill>
                <a:latin typeface="Calibri" pitchFamily="34" charset="0"/>
                <a:ea typeface="Calibri" pitchFamily="34" charset="-122"/>
                <a:cs typeface="Calibri" pitchFamily="34" charset="-120"/>
              </a:rPr>
              <a:t>A Cloudflare Workers Debugging Retrospective</a:t>
            </a:r>
            <a:endParaRPr lang="en-US" sz="2000" dirty="0"/>
          </a:p>
        </p:txBody>
      </p:sp>
      <p:sp>
        <p:nvSpPr>
          <p:cNvPr id="5" name="Text 2"/>
          <p:cNvSpPr txBox="1"/>
          <p:nvPr/>
        </p:nvSpPr>
        <p:spPr>
          <a:xfrm>
            <a:off x="868680" y="4251960"/>
            <a:ext cx="10058400" cy="411480"/>
          </a:xfrm>
          <a:prstGeom prst="rect">
            <a:avLst/>
          </a:prstGeom>
          <a:noFill/>
          <a:ln/>
        </p:spPr>
        <p:txBody>
          <a:bodyPr wrap="square" lIns="0" tIns="0" rIns="0" bIns="0" rtlCol="0" anchor="ctr"/>
          <a:lstStyle/>
          <a:p>
            <a:pPr indent="0" marL="0">
              <a:buNone/>
            </a:pPr>
            <a:r>
              <a:rPr lang="en-US" sz="1500" i="1" dirty="0">
                <a:solidFill>
                  <a:srgbClr val="F38020"/>
                </a:solidFill>
                <a:latin typeface="Calibri" pitchFamily="34" charset="0"/>
                <a:ea typeface="Calibri" pitchFamily="34" charset="-122"/>
                <a:cs typeface="Calibri" pitchFamily="34" charset="-120"/>
              </a:rPr>
              <a:t>13 issues chased down. One working API.</a:t>
            </a:r>
            <a:endParaRPr lang="en-US" sz="1500" dirty="0"/>
          </a:p>
        </p:txBody>
      </p:sp>
      <p:sp>
        <p:nvSpPr>
          <p:cNvPr id="6" name="Text 3"/>
          <p:cNvSpPr txBox="1"/>
          <p:nvPr/>
        </p:nvSpPr>
        <p:spPr>
          <a:xfrm>
            <a:off x="868680" y="6172200"/>
            <a:ext cx="9144000" cy="320040"/>
          </a:xfrm>
          <a:prstGeom prst="rect">
            <a:avLst/>
          </a:prstGeom>
          <a:noFill/>
          <a:ln/>
        </p:spPr>
        <p:txBody>
          <a:bodyPr wrap="square" lIns="0" tIns="0" rIns="0" bIns="0" rtlCol="0" anchor="ctr"/>
          <a:lstStyle/>
          <a:p>
            <a:pPr indent="0" marL="0">
              <a:buNone/>
            </a:pPr>
            <a:r>
              <a:rPr lang="en-US" sz="1200" dirty="0">
                <a:solidFill>
                  <a:srgbClr val="8AA0BE"/>
                </a:solidFill>
                <a:latin typeface="Calibri" pitchFamily="34" charset="0"/>
                <a:ea typeface="Calibri" pitchFamily="34" charset="-122"/>
                <a:cs typeface="Calibri" pitchFamily="34" charset="-120"/>
              </a:rPr>
              <a:t>Cloudflare Workers  ·  Workers AI  ·  Browser Rendering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OVERVIEW</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What We'll Cover</a:t>
            </a:r>
            <a:endParaRPr lang="en-US" sz="3000" dirty="0"/>
          </a:p>
        </p:txBody>
      </p:sp>
      <p:sp>
        <p:nvSpPr>
          <p:cNvPr id="6" name="Shape 3"/>
          <p:cNvSpPr/>
          <p:nvPr/>
        </p:nvSpPr>
        <p:spPr>
          <a:xfrm>
            <a:off x="640080" y="1929384"/>
            <a:ext cx="502920" cy="502920"/>
          </a:xfrm>
          <a:prstGeom prst="ellipse">
            <a:avLst/>
          </a:prstGeom>
          <a:solidFill>
            <a:srgbClr val="FDEEE0"/>
          </a:solidFill>
          <a:ln/>
        </p:spPr>
      </p:sp>
      <p:sp>
        <p:nvSpPr>
          <p:cNvPr id="7" name="Text 4"/>
          <p:cNvSpPr txBox="1"/>
          <p:nvPr/>
        </p:nvSpPr>
        <p:spPr>
          <a:xfrm>
            <a:off x="640080" y="1929384"/>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01</a:t>
            </a:r>
            <a:endParaRPr lang="en-US" sz="1600" dirty="0"/>
          </a:p>
        </p:txBody>
      </p:sp>
      <p:sp>
        <p:nvSpPr>
          <p:cNvPr id="8" name="Text 5"/>
          <p:cNvSpPr txBox="1"/>
          <p:nvPr/>
        </p:nvSpPr>
        <p:spPr>
          <a:xfrm>
            <a:off x="1298448" y="1856232"/>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What We Built</a:t>
            </a:r>
            <a:endParaRPr lang="en-US" sz="1600" dirty="0"/>
          </a:p>
        </p:txBody>
      </p:sp>
      <p:sp>
        <p:nvSpPr>
          <p:cNvPr id="9" name="Text 6"/>
          <p:cNvSpPr txBox="1"/>
          <p:nvPr/>
        </p:nvSpPr>
        <p:spPr>
          <a:xfrm>
            <a:off x="1298448" y="2221992"/>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The Worker, its endpoints, and how a request flows through it</a:t>
            </a:r>
            <a:endParaRPr lang="en-US" sz="1250" dirty="0"/>
          </a:p>
        </p:txBody>
      </p:sp>
      <p:sp>
        <p:nvSpPr>
          <p:cNvPr id="10" name="Shape 7"/>
          <p:cNvSpPr/>
          <p:nvPr/>
        </p:nvSpPr>
        <p:spPr>
          <a:xfrm>
            <a:off x="6172200" y="1929384"/>
            <a:ext cx="502920" cy="502920"/>
          </a:xfrm>
          <a:prstGeom prst="ellipse">
            <a:avLst/>
          </a:prstGeom>
          <a:solidFill>
            <a:srgbClr val="FDEEE0"/>
          </a:solidFill>
          <a:ln/>
        </p:spPr>
      </p:sp>
      <p:sp>
        <p:nvSpPr>
          <p:cNvPr id="11" name="Text 8"/>
          <p:cNvSpPr txBox="1"/>
          <p:nvPr/>
        </p:nvSpPr>
        <p:spPr>
          <a:xfrm>
            <a:off x="6172200" y="1929384"/>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02</a:t>
            </a:r>
            <a:endParaRPr lang="en-US" sz="1600" dirty="0"/>
          </a:p>
        </p:txBody>
      </p:sp>
      <p:sp>
        <p:nvSpPr>
          <p:cNvPr id="12" name="Text 9"/>
          <p:cNvSpPr txBox="1"/>
          <p:nvPr/>
        </p:nvSpPr>
        <p:spPr>
          <a:xfrm>
            <a:off x="6830568" y="1856232"/>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The Core Mystery</a:t>
            </a:r>
            <a:endParaRPr lang="en-US" sz="1600" dirty="0"/>
          </a:p>
        </p:txBody>
      </p:sp>
      <p:sp>
        <p:nvSpPr>
          <p:cNvPr id="13" name="Text 10"/>
          <p:cNvSpPr txBox="1"/>
          <p:nvPr/>
        </p:nvSpPr>
        <p:spPr>
          <a:xfrm>
            <a:off x="6830568" y="2221992"/>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Why a page's real content was invisible to a plain fetch()</a:t>
            </a:r>
            <a:endParaRPr lang="en-US" sz="1250" dirty="0"/>
          </a:p>
        </p:txBody>
      </p:sp>
      <p:sp>
        <p:nvSpPr>
          <p:cNvPr id="14" name="Shape 11"/>
          <p:cNvSpPr/>
          <p:nvPr/>
        </p:nvSpPr>
        <p:spPr>
          <a:xfrm>
            <a:off x="640080" y="3264408"/>
            <a:ext cx="502920" cy="502920"/>
          </a:xfrm>
          <a:prstGeom prst="ellipse">
            <a:avLst/>
          </a:prstGeom>
          <a:solidFill>
            <a:srgbClr val="FDEEE0"/>
          </a:solidFill>
          <a:ln/>
        </p:spPr>
      </p:sp>
      <p:sp>
        <p:nvSpPr>
          <p:cNvPr id="15" name="Text 12"/>
          <p:cNvSpPr txBox="1"/>
          <p:nvPr/>
        </p:nvSpPr>
        <p:spPr>
          <a:xfrm>
            <a:off x="640080" y="3264408"/>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03</a:t>
            </a:r>
            <a:endParaRPr lang="en-US" sz="1600" dirty="0"/>
          </a:p>
        </p:txBody>
      </p:sp>
      <p:sp>
        <p:nvSpPr>
          <p:cNvPr id="16" name="Text 13"/>
          <p:cNvSpPr txBox="1"/>
          <p:nvPr/>
        </p:nvSpPr>
        <p:spPr>
          <a:xfrm>
            <a:off x="1298448" y="3191256"/>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The Debugging Journey</a:t>
            </a:r>
            <a:endParaRPr lang="en-US" sz="1600" dirty="0"/>
          </a:p>
        </p:txBody>
      </p:sp>
      <p:sp>
        <p:nvSpPr>
          <p:cNvPr id="17" name="Text 14"/>
          <p:cNvSpPr txBox="1"/>
          <p:nvPr/>
        </p:nvSpPr>
        <p:spPr>
          <a:xfrm>
            <a:off x="1298448" y="3557016"/>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Thirteen issues, each uncovering the next</a:t>
            </a:r>
            <a:endParaRPr lang="en-US" sz="1250" dirty="0"/>
          </a:p>
        </p:txBody>
      </p:sp>
      <p:sp>
        <p:nvSpPr>
          <p:cNvPr id="18" name="Shape 15"/>
          <p:cNvSpPr/>
          <p:nvPr/>
        </p:nvSpPr>
        <p:spPr>
          <a:xfrm>
            <a:off x="6172200" y="3264408"/>
            <a:ext cx="502920" cy="502920"/>
          </a:xfrm>
          <a:prstGeom prst="ellipse">
            <a:avLst/>
          </a:prstGeom>
          <a:solidFill>
            <a:srgbClr val="FDEEE0"/>
          </a:solidFill>
          <a:ln/>
        </p:spPr>
      </p:sp>
      <p:sp>
        <p:nvSpPr>
          <p:cNvPr id="19" name="Text 16"/>
          <p:cNvSpPr txBox="1"/>
          <p:nvPr/>
        </p:nvSpPr>
        <p:spPr>
          <a:xfrm>
            <a:off x="6172200" y="3264408"/>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04</a:t>
            </a:r>
            <a:endParaRPr lang="en-US" sz="1600" dirty="0"/>
          </a:p>
        </p:txBody>
      </p:sp>
      <p:sp>
        <p:nvSpPr>
          <p:cNvPr id="20" name="Text 17"/>
          <p:cNvSpPr txBox="1"/>
          <p:nvPr/>
        </p:nvSpPr>
        <p:spPr>
          <a:xfrm>
            <a:off x="6830568" y="3191256"/>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Six Deep Dives</a:t>
            </a:r>
            <a:endParaRPr lang="en-US" sz="1600" dirty="0"/>
          </a:p>
        </p:txBody>
      </p:sp>
      <p:sp>
        <p:nvSpPr>
          <p:cNvPr id="21" name="Text 18"/>
          <p:cNvSpPr txBox="1"/>
          <p:nvPr/>
        </p:nvSpPr>
        <p:spPr>
          <a:xfrm>
            <a:off x="6830568" y="3557016"/>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Credentials, stale deploys, config drift, and more</a:t>
            </a:r>
            <a:endParaRPr lang="en-US" sz="1250" dirty="0"/>
          </a:p>
        </p:txBody>
      </p:sp>
      <p:sp>
        <p:nvSpPr>
          <p:cNvPr id="22" name="Shape 19"/>
          <p:cNvSpPr/>
          <p:nvPr/>
        </p:nvSpPr>
        <p:spPr>
          <a:xfrm>
            <a:off x="640080" y="4599432"/>
            <a:ext cx="502920" cy="502920"/>
          </a:xfrm>
          <a:prstGeom prst="ellipse">
            <a:avLst/>
          </a:prstGeom>
          <a:solidFill>
            <a:srgbClr val="FDEEE0"/>
          </a:solidFill>
          <a:ln/>
        </p:spPr>
      </p:sp>
      <p:sp>
        <p:nvSpPr>
          <p:cNvPr id="23" name="Text 20"/>
          <p:cNvSpPr txBox="1"/>
          <p:nvPr/>
        </p:nvSpPr>
        <p:spPr>
          <a:xfrm>
            <a:off x="640080" y="4599432"/>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05</a:t>
            </a:r>
            <a:endParaRPr lang="en-US" sz="1600" dirty="0"/>
          </a:p>
        </p:txBody>
      </p:sp>
      <p:sp>
        <p:nvSpPr>
          <p:cNvPr id="24" name="Text 21"/>
          <p:cNvSpPr txBox="1"/>
          <p:nvPr/>
        </p:nvSpPr>
        <p:spPr>
          <a:xfrm>
            <a:off x="1298448" y="4526280"/>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Final Architecture</a:t>
            </a:r>
            <a:endParaRPr lang="en-US" sz="1600" dirty="0"/>
          </a:p>
        </p:txBody>
      </p:sp>
      <p:sp>
        <p:nvSpPr>
          <p:cNvPr id="25" name="Text 22"/>
          <p:cNvSpPr txBox="1"/>
          <p:nvPr/>
        </p:nvSpPr>
        <p:spPr>
          <a:xfrm>
            <a:off x="1298448" y="4892040"/>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The two-tier fetch strategy that made it reliable</a:t>
            </a:r>
            <a:endParaRPr lang="en-US" sz="1250" dirty="0"/>
          </a:p>
        </p:txBody>
      </p:sp>
      <p:sp>
        <p:nvSpPr>
          <p:cNvPr id="26" name="Shape 23"/>
          <p:cNvSpPr/>
          <p:nvPr/>
        </p:nvSpPr>
        <p:spPr>
          <a:xfrm>
            <a:off x="6172200" y="4599432"/>
            <a:ext cx="502920" cy="502920"/>
          </a:xfrm>
          <a:prstGeom prst="ellipse">
            <a:avLst/>
          </a:prstGeom>
          <a:solidFill>
            <a:srgbClr val="FDEEE0"/>
          </a:solidFill>
          <a:ln/>
        </p:spPr>
      </p:sp>
      <p:sp>
        <p:nvSpPr>
          <p:cNvPr id="27" name="Text 24"/>
          <p:cNvSpPr txBox="1"/>
          <p:nvPr/>
        </p:nvSpPr>
        <p:spPr>
          <a:xfrm>
            <a:off x="6172200" y="4599432"/>
            <a:ext cx="502920" cy="502920"/>
          </a:xfrm>
          <a:prstGeom prst="rect">
            <a:avLst/>
          </a:prstGeom>
          <a:noFill/>
          <a:ln/>
        </p:spPr>
        <p:txBody>
          <a:bodyPr wrap="square" lIns="0" tIns="0" rIns="0" bIns="0" rtlCol="0" anchor="ctr"/>
          <a:lstStyle/>
          <a:p>
            <a:pPr algn="ctr" indent="0" marL="0">
              <a:buNone/>
            </a:pPr>
            <a:r>
              <a:rPr lang="en-US" sz="1600" b="1" dirty="0">
                <a:solidFill>
                  <a:srgbClr val="F38020"/>
                </a:solidFill>
                <a:latin typeface="Cambria" pitchFamily="34" charset="0"/>
                <a:ea typeface="Cambria" pitchFamily="34" charset="-122"/>
                <a:cs typeface="Cambria" pitchFamily="34" charset="-120"/>
              </a:rPr>
              <a:t>06</a:t>
            </a:r>
            <a:endParaRPr lang="en-US" sz="1600" dirty="0"/>
          </a:p>
        </p:txBody>
      </p:sp>
      <p:sp>
        <p:nvSpPr>
          <p:cNvPr id="28" name="Text 25"/>
          <p:cNvSpPr txBox="1"/>
          <p:nvPr/>
        </p:nvSpPr>
        <p:spPr>
          <a:xfrm>
            <a:off x="6830568" y="4526280"/>
            <a:ext cx="4416552" cy="36576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Lessons &amp; Takeaways</a:t>
            </a:r>
            <a:endParaRPr lang="en-US" sz="1600" dirty="0"/>
          </a:p>
        </p:txBody>
      </p:sp>
      <p:sp>
        <p:nvSpPr>
          <p:cNvPr id="29" name="Text 26"/>
          <p:cNvSpPr txBox="1"/>
          <p:nvPr/>
        </p:nvSpPr>
        <p:spPr>
          <a:xfrm>
            <a:off x="6830568" y="4892040"/>
            <a:ext cx="4416552" cy="685800"/>
          </a:xfrm>
          <a:prstGeom prst="rect">
            <a:avLst/>
          </a:prstGeom>
          <a:noFill/>
          <a:ln/>
        </p:spPr>
        <p:txBody>
          <a:bodyPr wrap="square" lIns="0" tIns="0" rIns="0" bIns="0" rtlCol="0" anchor="ctr"/>
          <a:lstStyle/>
          <a:p>
            <a:pPr indent="0" marL="0">
              <a:lnSpc>
                <a:spcPct val="110000"/>
              </a:lnSpc>
              <a:buNone/>
            </a:pPr>
            <a:r>
              <a:rPr lang="en-US" sz="1250" dirty="0">
                <a:solidFill>
                  <a:srgbClr val="6B7A8F"/>
                </a:solidFill>
                <a:latin typeface="Calibri" pitchFamily="34" charset="0"/>
                <a:ea typeface="Calibri" pitchFamily="34" charset="-122"/>
                <a:cs typeface="Calibri" pitchFamily="34" charset="-120"/>
              </a:rPr>
              <a:t>What we'd tell the next team before they start</a:t>
            </a:r>
            <a:endParaRPr lang="en-US" sz="1250" dirty="0"/>
          </a:p>
        </p:txBody>
      </p:sp>
      <p:sp>
        <p:nvSpPr>
          <p:cNvPr id="30" name="Text 27"/>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31" name="Text 28"/>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THE PROJECT</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 Worker That Reads a Company's Website</a:t>
            </a:r>
            <a:endParaRPr lang="en-US" sz="3000" dirty="0"/>
          </a:p>
        </p:txBody>
      </p:sp>
      <p:sp>
        <p:nvSpPr>
          <p:cNvPr id="6" name="Text 3"/>
          <p:cNvSpPr txBox="1"/>
          <p:nvPr/>
        </p:nvSpPr>
        <p:spPr>
          <a:xfrm>
            <a:off x="640080" y="1783080"/>
            <a:ext cx="10881360" cy="548640"/>
          </a:xfrm>
          <a:prstGeom prst="rect">
            <a:avLst/>
          </a:prstGeom>
          <a:noFill/>
          <a:ln/>
        </p:spPr>
        <p:txBody>
          <a:bodyPr wrap="square" lIns="0" tIns="0" rIns="0" bIns="0" rtlCol="0" anchor="t"/>
          <a:lstStyle/>
          <a:p>
            <a:pPr indent="0" marL="0">
              <a:lnSpc>
                <a:spcPct val="112000"/>
              </a:lnSpc>
              <a:buNone/>
            </a:pPr>
            <a:r>
              <a:rPr lang="en-US" sz="1450" dirty="0">
                <a:solidFill>
                  <a:srgbClr val="6B7A8F"/>
                </a:solidFill>
                <a:latin typeface="Calibri" pitchFamily="34" charset="0"/>
                <a:ea typeface="Calibri" pitchFamily="34" charset="-122"/>
                <a:cs typeface="Calibri" pitchFamily="34" charset="-120"/>
              </a:rPr>
              <a:t>A Cloudflare Worker that crawls a company's site and uses Workers AI to extract its mission, vision, core values, and culture as structured JSON.</a:t>
            </a:r>
            <a:endParaRPr lang="en-US" sz="1450" dirty="0"/>
          </a:p>
        </p:txBody>
      </p:sp>
      <p:sp>
        <p:nvSpPr>
          <p:cNvPr id="7" name="Shape 4"/>
          <p:cNvSpPr/>
          <p:nvPr/>
        </p:nvSpPr>
        <p:spPr>
          <a:xfrm>
            <a:off x="640080" y="2697480"/>
            <a:ext cx="2468880" cy="2286000"/>
          </a:xfrm>
          <a:prstGeom prst="roundRect">
            <a:avLst>
              <a:gd name="adj" fmla="val 3600"/>
            </a:avLst>
          </a:prstGeom>
          <a:solidFill>
            <a:srgbClr val="F4F7FA"/>
          </a:solidFill>
          <a:ln/>
          <a:effectLst>
            <a:outerShdw sx="100000" sy="100000" kx="0" ky="0" algn="bl" rotWithShape="0" blurRad="76200" dist="25400" dir="5400000">
              <a:srgbClr val="1B2A4A">
                <a:alpha val="18000"/>
              </a:srgbClr>
            </a:outerShdw>
          </a:effectLst>
        </p:spPr>
      </p:sp>
      <p:sp>
        <p:nvSpPr>
          <p:cNvPr id="8" name="Shape 5"/>
          <p:cNvSpPr/>
          <p:nvPr/>
        </p:nvSpPr>
        <p:spPr>
          <a:xfrm>
            <a:off x="1600200" y="2953512"/>
            <a:ext cx="548640" cy="548640"/>
          </a:xfrm>
          <a:prstGeom prst="ellipse">
            <a:avLst/>
          </a:prstGeom>
          <a:solidFill>
            <a:srgbClr val="1B2A4A"/>
          </a:solidFill>
          <a:ln/>
        </p:spPr>
      </p:sp>
      <p:pic>
        <p:nvPicPr>
          <p:cNvPr id="9" name="Image 1" descr="preencoded.png">    </p:cNvPr>
          <p:cNvPicPr>
            <a:picLocks noChangeAspect="1"/>
          </p:cNvPicPr>
          <p:nvPr/>
        </p:nvPicPr>
        <p:blipFill>
          <a:blip r:embed="rId2"/>
          <a:stretch>
            <a:fillRect/>
          </a:stretch>
        </p:blipFill>
        <p:spPr>
          <a:xfrm>
            <a:off x="1728216" y="3081528"/>
            <a:ext cx="292608" cy="292608"/>
          </a:xfrm>
          <a:prstGeom prst="rect">
            <a:avLst/>
          </a:prstGeom>
        </p:spPr>
      </p:pic>
      <p:sp>
        <p:nvSpPr>
          <p:cNvPr id="10" name="Text 6"/>
          <p:cNvSpPr txBox="1"/>
          <p:nvPr/>
        </p:nvSpPr>
        <p:spPr>
          <a:xfrm>
            <a:off x="777240" y="3657600"/>
            <a:ext cx="2194560" cy="457200"/>
          </a:xfrm>
          <a:prstGeom prst="rect">
            <a:avLst/>
          </a:prstGeom>
          <a:noFill/>
          <a:ln/>
        </p:spPr>
        <p:txBody>
          <a:bodyPr wrap="square" lIns="0" tIns="0" rIns="0" bIns="0" rtlCol="0" anchor="ctr"/>
          <a:lstStyle/>
          <a:p>
            <a:pPr algn="ctr" indent="0" marL="0">
              <a:buNone/>
            </a:pPr>
            <a:r>
              <a:rPr lang="en-US" sz="1350" b="1" dirty="0">
                <a:solidFill>
                  <a:srgbClr val="1B2A4A"/>
                </a:solidFill>
                <a:latin typeface="Calibri" pitchFamily="34" charset="0"/>
                <a:ea typeface="Calibri" pitchFamily="34" charset="-122"/>
                <a:cs typeface="Calibri" pitchFamily="34" charset="-120"/>
              </a:rPr>
              <a:t>1. POST a URL</a:t>
            </a:r>
            <a:endParaRPr lang="en-US" sz="1350" dirty="0"/>
          </a:p>
        </p:txBody>
      </p:sp>
      <p:sp>
        <p:nvSpPr>
          <p:cNvPr id="11" name="Text 7"/>
          <p:cNvSpPr txBox="1"/>
          <p:nvPr/>
        </p:nvSpPr>
        <p:spPr>
          <a:xfrm>
            <a:off x="804672" y="4114800"/>
            <a:ext cx="2139696" cy="777240"/>
          </a:xfrm>
          <a:prstGeom prst="rect">
            <a:avLst/>
          </a:prstGeom>
          <a:noFill/>
          <a:ln/>
        </p:spPr>
        <p:txBody>
          <a:bodyPr wrap="square" lIns="0" tIns="0" rIns="0" bIns="0" rtlCol="0" anchor="ctr"/>
          <a:lstStyle/>
          <a:p>
            <a:pPr algn="ctr" indent="0" marL="0">
              <a:lnSpc>
                <a:spcPct val="110000"/>
              </a:lnSpc>
              <a:buNone/>
            </a:pPr>
            <a:r>
              <a:rPr lang="en-US" sz="1150" dirty="0">
                <a:solidFill>
                  <a:srgbClr val="6B7A8F"/>
                </a:solidFill>
                <a:latin typeface="Calibri" pitchFamily="34" charset="0"/>
                <a:ea typeface="Calibri" pitchFamily="34" charset="-122"/>
                <a:cs typeface="Calibri" pitchFamily="34" charset="-120"/>
              </a:rPr>
              <a:t>Client sends a company URL to /extract</a:t>
            </a:r>
            <a:endParaRPr lang="en-US" sz="1150" dirty="0"/>
          </a:p>
        </p:txBody>
      </p:sp>
      <p:sp>
        <p:nvSpPr>
          <p:cNvPr id="12" name="Text 8"/>
          <p:cNvSpPr txBox="1"/>
          <p:nvPr/>
        </p:nvSpPr>
        <p:spPr>
          <a:xfrm>
            <a:off x="3113532" y="3611880"/>
            <a:ext cx="210312" cy="457200"/>
          </a:xfrm>
          <a:prstGeom prst="rect">
            <a:avLst/>
          </a:prstGeom>
          <a:noFill/>
          <a:ln/>
        </p:spPr>
        <p:txBody>
          <a:bodyPr wrap="square" lIns="0" tIns="0" rIns="0" bIns="0" rtlCol="0" anchor="ctr"/>
          <a:lstStyle/>
          <a:p>
            <a:pPr algn="ctr" indent="0" marL="0">
              <a:buNone/>
            </a:pPr>
            <a:r>
              <a:rPr lang="en-US" sz="1800" b="1" dirty="0">
                <a:solidFill>
                  <a:srgbClr val="F38020"/>
                </a:solidFill>
                <a:latin typeface="Calibri" pitchFamily="34" charset="0"/>
                <a:ea typeface="Calibri" pitchFamily="34" charset="-122"/>
                <a:cs typeface="Calibri" pitchFamily="34" charset="-120"/>
              </a:rPr>
              <a:t>&gt;</a:t>
            </a:r>
            <a:endParaRPr lang="en-US" sz="1800" dirty="0"/>
          </a:p>
        </p:txBody>
      </p:sp>
      <p:sp>
        <p:nvSpPr>
          <p:cNvPr id="13" name="Shape 9"/>
          <p:cNvSpPr/>
          <p:nvPr/>
        </p:nvSpPr>
        <p:spPr>
          <a:xfrm>
            <a:off x="3328416" y="2697480"/>
            <a:ext cx="2468880" cy="2286000"/>
          </a:xfrm>
          <a:prstGeom prst="roundRect">
            <a:avLst>
              <a:gd name="adj" fmla="val 3600"/>
            </a:avLst>
          </a:prstGeom>
          <a:solidFill>
            <a:srgbClr val="F4F7FA"/>
          </a:solidFill>
          <a:ln/>
          <a:effectLst>
            <a:outerShdw sx="100000" sy="100000" kx="0" ky="0" algn="bl" rotWithShape="0" blurRad="76200" dist="25400" dir="5400000">
              <a:srgbClr val="1B2A4A">
                <a:alpha val="18000"/>
              </a:srgbClr>
            </a:outerShdw>
          </a:effectLst>
        </p:spPr>
      </p:sp>
      <p:sp>
        <p:nvSpPr>
          <p:cNvPr id="14" name="Shape 10"/>
          <p:cNvSpPr/>
          <p:nvPr/>
        </p:nvSpPr>
        <p:spPr>
          <a:xfrm>
            <a:off x="4288536" y="2953512"/>
            <a:ext cx="548640" cy="548640"/>
          </a:xfrm>
          <a:prstGeom prst="ellipse">
            <a:avLst/>
          </a:prstGeom>
          <a:solidFill>
            <a:srgbClr val="1B2A4A"/>
          </a:solidFill>
          <a:ln/>
        </p:spPr>
      </p:sp>
      <p:pic>
        <p:nvPicPr>
          <p:cNvPr id="15" name="Image 2" descr="preencoded.png">    </p:cNvPr>
          <p:cNvPicPr>
            <a:picLocks noChangeAspect="1"/>
          </p:cNvPicPr>
          <p:nvPr/>
        </p:nvPicPr>
        <p:blipFill>
          <a:blip r:embed="rId3"/>
          <a:stretch>
            <a:fillRect/>
          </a:stretch>
        </p:blipFill>
        <p:spPr>
          <a:xfrm>
            <a:off x="4416552" y="3081528"/>
            <a:ext cx="292608" cy="292608"/>
          </a:xfrm>
          <a:prstGeom prst="rect">
            <a:avLst/>
          </a:prstGeom>
        </p:spPr>
      </p:pic>
      <p:sp>
        <p:nvSpPr>
          <p:cNvPr id="16" name="Text 11"/>
          <p:cNvSpPr txBox="1"/>
          <p:nvPr/>
        </p:nvSpPr>
        <p:spPr>
          <a:xfrm>
            <a:off x="3465576" y="3657600"/>
            <a:ext cx="2194560" cy="457200"/>
          </a:xfrm>
          <a:prstGeom prst="rect">
            <a:avLst/>
          </a:prstGeom>
          <a:noFill/>
          <a:ln/>
        </p:spPr>
        <p:txBody>
          <a:bodyPr wrap="square" lIns="0" tIns="0" rIns="0" bIns="0" rtlCol="0" anchor="ctr"/>
          <a:lstStyle/>
          <a:p>
            <a:pPr algn="ctr" indent="0" marL="0">
              <a:buNone/>
            </a:pPr>
            <a:r>
              <a:rPr lang="en-US" sz="1350" b="1" dirty="0">
                <a:solidFill>
                  <a:srgbClr val="1B2A4A"/>
                </a:solidFill>
                <a:latin typeface="Calibri" pitchFamily="34" charset="0"/>
                <a:ea typeface="Calibri" pitchFamily="34" charset="-122"/>
                <a:cs typeface="Calibri" pitchFamily="34" charset="-120"/>
              </a:rPr>
              <a:t>2. Crawl Candidate Pages</a:t>
            </a:r>
            <a:endParaRPr lang="en-US" sz="1350" dirty="0"/>
          </a:p>
        </p:txBody>
      </p:sp>
      <p:sp>
        <p:nvSpPr>
          <p:cNvPr id="17" name="Text 12"/>
          <p:cNvSpPr txBox="1"/>
          <p:nvPr/>
        </p:nvSpPr>
        <p:spPr>
          <a:xfrm>
            <a:off x="3493008" y="4114800"/>
            <a:ext cx="2139696" cy="777240"/>
          </a:xfrm>
          <a:prstGeom prst="rect">
            <a:avLst/>
          </a:prstGeom>
          <a:noFill/>
          <a:ln/>
        </p:spPr>
        <p:txBody>
          <a:bodyPr wrap="square" lIns="0" tIns="0" rIns="0" bIns="0" rtlCol="0" anchor="ctr"/>
          <a:lstStyle/>
          <a:p>
            <a:pPr algn="ctr" indent="0" marL="0">
              <a:lnSpc>
                <a:spcPct val="110000"/>
              </a:lnSpc>
              <a:buNone/>
            </a:pPr>
            <a:r>
              <a:rPr lang="en-US" sz="1150" dirty="0">
                <a:solidFill>
                  <a:srgbClr val="6B7A8F"/>
                </a:solidFill>
                <a:latin typeface="Calibri" pitchFamily="34" charset="0"/>
                <a:ea typeface="Calibri" pitchFamily="34" charset="-122"/>
                <a:cs typeface="Calibri" pitchFamily="34" charset="-120"/>
              </a:rPr>
              <a:t>Fetch /, /about, /careers, /values, and more</a:t>
            </a:r>
            <a:endParaRPr lang="en-US" sz="1150" dirty="0"/>
          </a:p>
        </p:txBody>
      </p:sp>
      <p:sp>
        <p:nvSpPr>
          <p:cNvPr id="18" name="Text 13"/>
          <p:cNvSpPr txBox="1"/>
          <p:nvPr/>
        </p:nvSpPr>
        <p:spPr>
          <a:xfrm>
            <a:off x="5801868" y="3611880"/>
            <a:ext cx="210312" cy="457200"/>
          </a:xfrm>
          <a:prstGeom prst="rect">
            <a:avLst/>
          </a:prstGeom>
          <a:noFill/>
          <a:ln/>
        </p:spPr>
        <p:txBody>
          <a:bodyPr wrap="square" lIns="0" tIns="0" rIns="0" bIns="0" rtlCol="0" anchor="ctr"/>
          <a:lstStyle/>
          <a:p>
            <a:pPr algn="ctr" indent="0" marL="0">
              <a:buNone/>
            </a:pPr>
            <a:r>
              <a:rPr lang="en-US" sz="1800" b="1" dirty="0">
                <a:solidFill>
                  <a:srgbClr val="F38020"/>
                </a:solidFill>
                <a:latin typeface="Calibri" pitchFamily="34" charset="0"/>
                <a:ea typeface="Calibri" pitchFamily="34" charset="-122"/>
                <a:cs typeface="Calibri" pitchFamily="34" charset="-120"/>
              </a:rPr>
              <a:t>&gt;</a:t>
            </a:r>
            <a:endParaRPr lang="en-US" sz="1800" dirty="0"/>
          </a:p>
        </p:txBody>
      </p:sp>
      <p:sp>
        <p:nvSpPr>
          <p:cNvPr id="19" name="Shape 14"/>
          <p:cNvSpPr/>
          <p:nvPr/>
        </p:nvSpPr>
        <p:spPr>
          <a:xfrm>
            <a:off x="6016752" y="2697480"/>
            <a:ext cx="2468880" cy="2286000"/>
          </a:xfrm>
          <a:prstGeom prst="roundRect">
            <a:avLst>
              <a:gd name="adj" fmla="val 3600"/>
            </a:avLst>
          </a:prstGeom>
          <a:solidFill>
            <a:srgbClr val="F4F7FA"/>
          </a:solidFill>
          <a:ln/>
          <a:effectLst>
            <a:outerShdw sx="100000" sy="100000" kx="0" ky="0" algn="bl" rotWithShape="0" blurRad="76200" dist="25400" dir="5400000">
              <a:srgbClr val="1B2A4A">
                <a:alpha val="18000"/>
              </a:srgbClr>
            </a:outerShdw>
          </a:effectLst>
        </p:spPr>
      </p:sp>
      <p:sp>
        <p:nvSpPr>
          <p:cNvPr id="20" name="Shape 15"/>
          <p:cNvSpPr/>
          <p:nvPr/>
        </p:nvSpPr>
        <p:spPr>
          <a:xfrm>
            <a:off x="6976872" y="2953512"/>
            <a:ext cx="548640" cy="548640"/>
          </a:xfrm>
          <a:prstGeom prst="ellipse">
            <a:avLst/>
          </a:prstGeom>
          <a:solidFill>
            <a:srgbClr val="1B2A4A"/>
          </a:solidFill>
          <a:ln/>
        </p:spPr>
      </p:sp>
      <p:pic>
        <p:nvPicPr>
          <p:cNvPr id="21" name="Image 3" descr="preencoded.png">    </p:cNvPr>
          <p:cNvPicPr>
            <a:picLocks noChangeAspect="1"/>
          </p:cNvPicPr>
          <p:nvPr/>
        </p:nvPicPr>
        <p:blipFill>
          <a:blip r:embed="rId4"/>
          <a:stretch>
            <a:fillRect/>
          </a:stretch>
        </p:blipFill>
        <p:spPr>
          <a:xfrm>
            <a:off x="7104888" y="3081528"/>
            <a:ext cx="292608" cy="292608"/>
          </a:xfrm>
          <a:prstGeom prst="rect">
            <a:avLst/>
          </a:prstGeom>
        </p:spPr>
      </p:pic>
      <p:sp>
        <p:nvSpPr>
          <p:cNvPr id="22" name="Text 16"/>
          <p:cNvSpPr txBox="1"/>
          <p:nvPr/>
        </p:nvSpPr>
        <p:spPr>
          <a:xfrm>
            <a:off x="6153912" y="3657600"/>
            <a:ext cx="2194560" cy="457200"/>
          </a:xfrm>
          <a:prstGeom prst="rect">
            <a:avLst/>
          </a:prstGeom>
          <a:noFill/>
          <a:ln/>
        </p:spPr>
        <p:txBody>
          <a:bodyPr wrap="square" lIns="0" tIns="0" rIns="0" bIns="0" rtlCol="0" anchor="ctr"/>
          <a:lstStyle/>
          <a:p>
            <a:pPr algn="ctr" indent="0" marL="0">
              <a:buNone/>
            </a:pPr>
            <a:r>
              <a:rPr lang="en-US" sz="1350" b="1" dirty="0">
                <a:solidFill>
                  <a:srgbClr val="1B2A4A"/>
                </a:solidFill>
                <a:latin typeface="Calibri" pitchFamily="34" charset="0"/>
                <a:ea typeface="Calibri" pitchFamily="34" charset="-122"/>
                <a:cs typeface="Calibri" pitchFamily="34" charset="-120"/>
              </a:rPr>
              <a:t>3. Workers AI Extracts</a:t>
            </a:r>
            <a:endParaRPr lang="en-US" sz="1350" dirty="0"/>
          </a:p>
        </p:txBody>
      </p:sp>
      <p:sp>
        <p:nvSpPr>
          <p:cNvPr id="23" name="Text 17"/>
          <p:cNvSpPr txBox="1"/>
          <p:nvPr/>
        </p:nvSpPr>
        <p:spPr>
          <a:xfrm>
            <a:off x="6181344" y="4114800"/>
            <a:ext cx="2139696" cy="777240"/>
          </a:xfrm>
          <a:prstGeom prst="rect">
            <a:avLst/>
          </a:prstGeom>
          <a:noFill/>
          <a:ln/>
        </p:spPr>
        <p:txBody>
          <a:bodyPr wrap="square" lIns="0" tIns="0" rIns="0" bIns="0" rtlCol="0" anchor="ctr"/>
          <a:lstStyle/>
          <a:p>
            <a:pPr algn="ctr" indent="0" marL="0">
              <a:lnSpc>
                <a:spcPct val="110000"/>
              </a:lnSpc>
              <a:buNone/>
            </a:pPr>
            <a:r>
              <a:rPr lang="en-US" sz="1150" dirty="0">
                <a:solidFill>
                  <a:srgbClr val="6B7A8F"/>
                </a:solidFill>
                <a:latin typeface="Calibri" pitchFamily="34" charset="0"/>
                <a:ea typeface="Calibri" pitchFamily="34" charset="-122"/>
                <a:cs typeface="Calibri" pitchFamily="34" charset="-120"/>
              </a:rPr>
              <a:t>One prompt turns combined page text into strict JSON</a:t>
            </a:r>
            <a:endParaRPr lang="en-US" sz="1150" dirty="0"/>
          </a:p>
        </p:txBody>
      </p:sp>
      <p:sp>
        <p:nvSpPr>
          <p:cNvPr id="24" name="Text 18"/>
          <p:cNvSpPr txBox="1"/>
          <p:nvPr/>
        </p:nvSpPr>
        <p:spPr>
          <a:xfrm>
            <a:off x="8490204" y="3611880"/>
            <a:ext cx="210312" cy="457200"/>
          </a:xfrm>
          <a:prstGeom prst="rect">
            <a:avLst/>
          </a:prstGeom>
          <a:noFill/>
          <a:ln/>
        </p:spPr>
        <p:txBody>
          <a:bodyPr wrap="square" lIns="0" tIns="0" rIns="0" bIns="0" rtlCol="0" anchor="ctr"/>
          <a:lstStyle/>
          <a:p>
            <a:pPr algn="ctr" indent="0" marL="0">
              <a:buNone/>
            </a:pPr>
            <a:r>
              <a:rPr lang="en-US" sz="1800" b="1" dirty="0">
                <a:solidFill>
                  <a:srgbClr val="F38020"/>
                </a:solidFill>
                <a:latin typeface="Calibri" pitchFamily="34" charset="0"/>
                <a:ea typeface="Calibri" pitchFamily="34" charset="-122"/>
                <a:cs typeface="Calibri" pitchFamily="34" charset="-120"/>
              </a:rPr>
              <a:t>&gt;</a:t>
            </a:r>
            <a:endParaRPr lang="en-US" sz="1800" dirty="0"/>
          </a:p>
        </p:txBody>
      </p:sp>
      <p:sp>
        <p:nvSpPr>
          <p:cNvPr id="25" name="Shape 19"/>
          <p:cNvSpPr/>
          <p:nvPr/>
        </p:nvSpPr>
        <p:spPr>
          <a:xfrm>
            <a:off x="8705088" y="2697480"/>
            <a:ext cx="2468880" cy="2286000"/>
          </a:xfrm>
          <a:prstGeom prst="roundRect">
            <a:avLst>
              <a:gd name="adj" fmla="val 3600"/>
            </a:avLst>
          </a:prstGeom>
          <a:solidFill>
            <a:srgbClr val="F4F7FA"/>
          </a:solidFill>
          <a:ln/>
          <a:effectLst>
            <a:outerShdw sx="100000" sy="100000" kx="0" ky="0" algn="bl" rotWithShape="0" blurRad="76200" dist="25400" dir="5400000">
              <a:srgbClr val="1B2A4A">
                <a:alpha val="18000"/>
              </a:srgbClr>
            </a:outerShdw>
          </a:effectLst>
        </p:spPr>
      </p:sp>
      <p:sp>
        <p:nvSpPr>
          <p:cNvPr id="26" name="Shape 20"/>
          <p:cNvSpPr/>
          <p:nvPr/>
        </p:nvSpPr>
        <p:spPr>
          <a:xfrm>
            <a:off x="9665208" y="2953512"/>
            <a:ext cx="548640" cy="548640"/>
          </a:xfrm>
          <a:prstGeom prst="ellipse">
            <a:avLst/>
          </a:prstGeom>
          <a:solidFill>
            <a:srgbClr val="1B2A4A"/>
          </a:solidFill>
          <a:ln/>
        </p:spPr>
      </p:sp>
      <p:pic>
        <p:nvPicPr>
          <p:cNvPr id="27" name="Image 4" descr="preencoded.png">    </p:cNvPr>
          <p:cNvPicPr>
            <a:picLocks noChangeAspect="1"/>
          </p:cNvPicPr>
          <p:nvPr/>
        </p:nvPicPr>
        <p:blipFill>
          <a:blip r:embed="rId5"/>
          <a:stretch>
            <a:fillRect/>
          </a:stretch>
        </p:blipFill>
        <p:spPr>
          <a:xfrm>
            <a:off x="9793224" y="3081528"/>
            <a:ext cx="292608" cy="292608"/>
          </a:xfrm>
          <a:prstGeom prst="rect">
            <a:avLst/>
          </a:prstGeom>
        </p:spPr>
      </p:pic>
      <p:sp>
        <p:nvSpPr>
          <p:cNvPr id="28" name="Text 21"/>
          <p:cNvSpPr txBox="1"/>
          <p:nvPr/>
        </p:nvSpPr>
        <p:spPr>
          <a:xfrm>
            <a:off x="8842248" y="3657600"/>
            <a:ext cx="2194560" cy="457200"/>
          </a:xfrm>
          <a:prstGeom prst="rect">
            <a:avLst/>
          </a:prstGeom>
          <a:noFill/>
          <a:ln/>
        </p:spPr>
        <p:txBody>
          <a:bodyPr wrap="square" lIns="0" tIns="0" rIns="0" bIns="0" rtlCol="0" anchor="ctr"/>
          <a:lstStyle/>
          <a:p>
            <a:pPr algn="ctr" indent="0" marL="0">
              <a:buNone/>
            </a:pPr>
            <a:r>
              <a:rPr lang="en-US" sz="1350" b="1" dirty="0">
                <a:solidFill>
                  <a:srgbClr val="1B2A4A"/>
                </a:solidFill>
                <a:latin typeface="Calibri" pitchFamily="34" charset="0"/>
                <a:ea typeface="Calibri" pitchFamily="34" charset="-122"/>
                <a:cs typeface="Calibri" pitchFamily="34" charset="-120"/>
              </a:rPr>
              <a:t>4. Optional Report</a:t>
            </a:r>
            <a:endParaRPr lang="en-US" sz="1350" dirty="0"/>
          </a:p>
        </p:txBody>
      </p:sp>
      <p:sp>
        <p:nvSpPr>
          <p:cNvPr id="29" name="Text 22"/>
          <p:cNvSpPr txBox="1"/>
          <p:nvPr/>
        </p:nvSpPr>
        <p:spPr>
          <a:xfrm>
            <a:off x="8869680" y="4114800"/>
            <a:ext cx="2139696" cy="777240"/>
          </a:xfrm>
          <a:prstGeom prst="rect">
            <a:avLst/>
          </a:prstGeom>
          <a:noFill/>
          <a:ln/>
        </p:spPr>
        <p:txBody>
          <a:bodyPr wrap="square" lIns="0" tIns="0" rIns="0" bIns="0" rtlCol="0" anchor="ctr"/>
          <a:lstStyle/>
          <a:p>
            <a:pPr algn="ctr" indent="0" marL="0">
              <a:lnSpc>
                <a:spcPct val="110000"/>
              </a:lnSpc>
              <a:buNone/>
            </a:pPr>
            <a:r>
              <a:rPr lang="en-US" sz="1150" dirty="0">
                <a:solidFill>
                  <a:srgbClr val="6B7A8F"/>
                </a:solidFill>
                <a:latin typeface="Calibri" pitchFamily="34" charset="0"/>
                <a:ea typeface="Calibri" pitchFamily="34" charset="-122"/>
                <a:cs typeface="Calibri" pitchFamily="34" charset="-120"/>
              </a:rPr>
              <a:t>/extract/full also generates a markdown summary</a:t>
            </a:r>
            <a:endParaRPr lang="en-US" sz="1150" dirty="0"/>
          </a:p>
        </p:txBody>
      </p:sp>
      <p:sp>
        <p:nvSpPr>
          <p:cNvPr id="30" name="Text 23"/>
          <p:cNvSpPr txBox="1"/>
          <p:nvPr/>
        </p:nvSpPr>
        <p:spPr>
          <a:xfrm>
            <a:off x="640080" y="5257800"/>
            <a:ext cx="10881360" cy="365760"/>
          </a:xfrm>
          <a:prstGeom prst="rect">
            <a:avLst/>
          </a:prstGeom>
          <a:noFill/>
          <a:ln/>
        </p:spPr>
        <p:txBody>
          <a:bodyPr wrap="square" lIns="0" tIns="0" rIns="0" bIns="0" rtlCol="0" anchor="t"/>
          <a:lstStyle/>
          <a:p>
            <a:pPr indent="0" marL="0">
              <a:lnSpc>
                <a:spcPct val="112000"/>
              </a:lnSpc>
              <a:buNone/>
            </a:pPr>
            <a:r>
              <a:rPr lang="en-US" sz="1200" i="1" dirty="0">
                <a:solidFill>
                  <a:srgbClr val="6B7A8F"/>
                </a:solidFill>
                <a:latin typeface="Calibri" pitchFamily="34" charset="0"/>
                <a:ea typeface="Calibri" pitchFamily="34" charset="-122"/>
                <a:cs typeface="Calibri" pitchFamily="34" charset="-120"/>
              </a:rPr>
              <a:t>Endpoints:  GET /  (health)   ·   POST /extract   ·   POST /extract/full   ·   Model: @cf/meta/llama-4-scout-17b-16e-instruct</a:t>
            </a:r>
            <a:endParaRPr lang="en-US" sz="1200" dirty="0"/>
          </a:p>
        </p:txBody>
      </p:sp>
      <p:sp>
        <p:nvSpPr>
          <p:cNvPr id="31" name="Text 24"/>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32" name="Text 25"/>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BY THE NUMBERS</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One Bug Report, Thirteen Root Causes</a:t>
            </a:r>
            <a:endParaRPr lang="en-US" sz="3000" dirty="0"/>
          </a:p>
        </p:txBody>
      </p:sp>
      <p:sp>
        <p:nvSpPr>
          <p:cNvPr id="6" name="Shape 3"/>
          <p:cNvSpPr/>
          <p:nvPr/>
        </p:nvSpPr>
        <p:spPr>
          <a:xfrm>
            <a:off x="777240" y="2377440"/>
            <a:ext cx="3429000" cy="2926080"/>
          </a:xfrm>
          <a:prstGeom prst="roundRect">
            <a:avLst>
              <a:gd name="adj" fmla="val 2813"/>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777240" y="2606040"/>
            <a:ext cx="3429000" cy="1051560"/>
          </a:xfrm>
          <a:prstGeom prst="rect">
            <a:avLst/>
          </a:prstGeom>
          <a:noFill/>
          <a:ln/>
        </p:spPr>
        <p:txBody>
          <a:bodyPr wrap="square" lIns="0" tIns="0" rIns="0" bIns="0" rtlCol="0" anchor="ctr"/>
          <a:lstStyle/>
          <a:p>
            <a:pPr algn="ctr" indent="0" marL="0">
              <a:buNone/>
            </a:pPr>
            <a:r>
              <a:rPr lang="en-US" sz="6200" b="1" dirty="0">
                <a:solidFill>
                  <a:srgbClr val="F38020"/>
                </a:solidFill>
                <a:latin typeface="Cambria" pitchFamily="34" charset="0"/>
                <a:ea typeface="Cambria" pitchFamily="34" charset="-122"/>
                <a:cs typeface="Cambria" pitchFamily="34" charset="-120"/>
              </a:rPr>
              <a:t>13</a:t>
            </a:r>
            <a:endParaRPr lang="en-US" sz="6200" dirty="0"/>
          </a:p>
        </p:txBody>
      </p:sp>
      <p:sp>
        <p:nvSpPr>
          <p:cNvPr id="8" name="Text 5"/>
          <p:cNvSpPr txBox="1"/>
          <p:nvPr/>
        </p:nvSpPr>
        <p:spPr>
          <a:xfrm>
            <a:off x="960120" y="3749040"/>
            <a:ext cx="3063240" cy="4572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Issues Uncovered</a:t>
            </a:r>
            <a:endParaRPr lang="en-US" sz="1500" dirty="0"/>
          </a:p>
        </p:txBody>
      </p:sp>
      <p:sp>
        <p:nvSpPr>
          <p:cNvPr id="9" name="Text 6"/>
          <p:cNvSpPr txBox="1"/>
          <p:nvPr/>
        </p:nvSpPr>
        <p:spPr>
          <a:xfrm>
            <a:off x="1005840" y="4224528"/>
            <a:ext cx="2971800" cy="914400"/>
          </a:xfrm>
          <a:prstGeom prst="rect">
            <a:avLst/>
          </a:prstGeom>
          <a:noFill/>
          <a:ln/>
        </p:spPr>
        <p:txBody>
          <a:bodyPr wrap="square" lIns="0" tIns="0" rIns="0" bIns="0" rtlCol="0" anchor="ctr"/>
          <a:lstStyle/>
          <a:p>
            <a:pPr algn="ctr" indent="0" marL="0">
              <a:lnSpc>
                <a:spcPct val="115000"/>
              </a:lnSpc>
              <a:buNone/>
            </a:pPr>
            <a:r>
              <a:rPr lang="en-US" sz="1150" dirty="0">
                <a:solidFill>
                  <a:srgbClr val="6B7A8F"/>
                </a:solidFill>
                <a:latin typeface="Calibri" pitchFamily="34" charset="0"/>
                <a:ea typeface="Calibri" pitchFamily="34" charset="-122"/>
                <a:cs typeface="Calibri" pitchFamily="34" charset="-120"/>
              </a:rPr>
              <a:t>From a missing README to a single truncated character budget</a:t>
            </a:r>
            <a:endParaRPr lang="en-US" sz="1150" dirty="0"/>
          </a:p>
        </p:txBody>
      </p:sp>
      <p:sp>
        <p:nvSpPr>
          <p:cNvPr id="10" name="Shape 7"/>
          <p:cNvSpPr/>
          <p:nvPr/>
        </p:nvSpPr>
        <p:spPr>
          <a:xfrm>
            <a:off x="4480560" y="2377440"/>
            <a:ext cx="3429000" cy="2926080"/>
          </a:xfrm>
          <a:prstGeom prst="roundRect">
            <a:avLst>
              <a:gd name="adj" fmla="val 2813"/>
            </a:avLst>
          </a:prstGeom>
          <a:solidFill>
            <a:srgbClr val="F4F7FA"/>
          </a:solidFill>
          <a:ln/>
          <a:effectLst>
            <a:outerShdw sx="100000" sy="100000" kx="0" ky="0" algn="bl" rotWithShape="0" blurRad="76200" dist="25400" dir="5400000">
              <a:srgbClr val="1B2A4A">
                <a:alpha val="18000"/>
              </a:srgbClr>
            </a:outerShdw>
          </a:effectLst>
        </p:spPr>
      </p:sp>
      <p:sp>
        <p:nvSpPr>
          <p:cNvPr id="11" name="Text 8"/>
          <p:cNvSpPr txBox="1"/>
          <p:nvPr/>
        </p:nvSpPr>
        <p:spPr>
          <a:xfrm>
            <a:off x="4480560" y="2606040"/>
            <a:ext cx="3429000" cy="1051560"/>
          </a:xfrm>
          <a:prstGeom prst="rect">
            <a:avLst/>
          </a:prstGeom>
          <a:noFill/>
          <a:ln/>
        </p:spPr>
        <p:txBody>
          <a:bodyPr wrap="square" lIns="0" tIns="0" rIns="0" bIns="0" rtlCol="0" anchor="ctr"/>
          <a:lstStyle/>
          <a:p>
            <a:pPr algn="ctr" indent="0" marL="0">
              <a:buNone/>
            </a:pPr>
            <a:r>
              <a:rPr lang="en-US" sz="6200" b="1" dirty="0">
                <a:solidFill>
                  <a:srgbClr val="F38020"/>
                </a:solidFill>
                <a:latin typeface="Cambria" pitchFamily="34" charset="0"/>
                <a:ea typeface="Cambria" pitchFamily="34" charset="-122"/>
                <a:cs typeface="Cambria" pitchFamily="34" charset="-120"/>
              </a:rPr>
              <a:t>9</a:t>
            </a:r>
            <a:endParaRPr lang="en-US" sz="6200" dirty="0"/>
          </a:p>
        </p:txBody>
      </p:sp>
      <p:sp>
        <p:nvSpPr>
          <p:cNvPr id="12" name="Text 9"/>
          <p:cNvSpPr txBox="1"/>
          <p:nvPr/>
        </p:nvSpPr>
        <p:spPr>
          <a:xfrm>
            <a:off x="4663440" y="3749040"/>
            <a:ext cx="3063240" cy="4572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Root-Cause Categories</a:t>
            </a:r>
            <a:endParaRPr lang="en-US" sz="1500" dirty="0"/>
          </a:p>
        </p:txBody>
      </p:sp>
      <p:sp>
        <p:nvSpPr>
          <p:cNvPr id="13" name="Text 10"/>
          <p:cNvSpPr txBox="1"/>
          <p:nvPr/>
        </p:nvSpPr>
        <p:spPr>
          <a:xfrm>
            <a:off x="4709160" y="4224528"/>
            <a:ext cx="2971800" cy="914400"/>
          </a:xfrm>
          <a:prstGeom prst="rect">
            <a:avLst/>
          </a:prstGeom>
          <a:noFill/>
          <a:ln/>
        </p:spPr>
        <p:txBody>
          <a:bodyPr wrap="square" lIns="0" tIns="0" rIns="0" bIns="0" rtlCol="0" anchor="ctr"/>
          <a:lstStyle/>
          <a:p>
            <a:pPr algn="ctr" indent="0" marL="0">
              <a:lnSpc>
                <a:spcPct val="115000"/>
              </a:lnSpc>
              <a:buNone/>
            </a:pPr>
            <a:r>
              <a:rPr lang="en-US" sz="1150" dirty="0">
                <a:solidFill>
                  <a:srgbClr val="6B7A8F"/>
                </a:solidFill>
                <a:latin typeface="Calibri" pitchFamily="34" charset="0"/>
                <a:ea typeface="Calibri" pitchFamily="34" charset="-122"/>
                <a:cs typeface="Calibri" pitchFamily="34" charset="-120"/>
              </a:rPr>
              <a:t>Credentials, deploys, config drift, endpoints, and more</a:t>
            </a:r>
            <a:endParaRPr lang="en-US" sz="1150" dirty="0"/>
          </a:p>
        </p:txBody>
      </p:sp>
      <p:sp>
        <p:nvSpPr>
          <p:cNvPr id="14" name="Shape 11"/>
          <p:cNvSpPr/>
          <p:nvPr/>
        </p:nvSpPr>
        <p:spPr>
          <a:xfrm>
            <a:off x="8183880" y="2377440"/>
            <a:ext cx="3429000" cy="2926080"/>
          </a:xfrm>
          <a:prstGeom prst="roundRect">
            <a:avLst>
              <a:gd name="adj" fmla="val 2813"/>
            </a:avLst>
          </a:prstGeom>
          <a:solidFill>
            <a:srgbClr val="F4F7FA"/>
          </a:solidFill>
          <a:ln/>
          <a:effectLst>
            <a:outerShdw sx="100000" sy="100000" kx="0" ky="0" algn="bl" rotWithShape="0" blurRad="76200" dist="25400" dir="5400000">
              <a:srgbClr val="1B2A4A">
                <a:alpha val="18000"/>
              </a:srgbClr>
            </a:outerShdw>
          </a:effectLst>
        </p:spPr>
      </p:sp>
      <p:sp>
        <p:nvSpPr>
          <p:cNvPr id="15" name="Text 12"/>
          <p:cNvSpPr txBox="1"/>
          <p:nvPr/>
        </p:nvSpPr>
        <p:spPr>
          <a:xfrm>
            <a:off x="8183880" y="2606040"/>
            <a:ext cx="3429000" cy="1051560"/>
          </a:xfrm>
          <a:prstGeom prst="rect">
            <a:avLst/>
          </a:prstGeom>
          <a:noFill/>
          <a:ln/>
        </p:spPr>
        <p:txBody>
          <a:bodyPr wrap="square" lIns="0" tIns="0" rIns="0" bIns="0" rtlCol="0" anchor="ctr"/>
          <a:lstStyle/>
          <a:p>
            <a:pPr algn="ctr" indent="0" marL="0">
              <a:buNone/>
            </a:pPr>
            <a:r>
              <a:rPr lang="en-US" sz="6200" b="1" dirty="0">
                <a:solidFill>
                  <a:srgbClr val="F38020"/>
                </a:solidFill>
                <a:latin typeface="Cambria" pitchFamily="34" charset="0"/>
                <a:ea typeface="Cambria" pitchFamily="34" charset="-122"/>
                <a:cs typeface="Cambria" pitchFamily="34" charset="-120"/>
              </a:rPr>
              <a:t>1</a:t>
            </a:r>
            <a:endParaRPr lang="en-US" sz="6200" dirty="0"/>
          </a:p>
        </p:txBody>
      </p:sp>
      <p:sp>
        <p:nvSpPr>
          <p:cNvPr id="16" name="Text 13"/>
          <p:cNvSpPr txBox="1"/>
          <p:nvPr/>
        </p:nvSpPr>
        <p:spPr>
          <a:xfrm>
            <a:off x="8366760" y="3749040"/>
            <a:ext cx="3063240" cy="457200"/>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Fix That Finally Landed It</a:t>
            </a:r>
            <a:endParaRPr lang="en-US" sz="1500" dirty="0"/>
          </a:p>
        </p:txBody>
      </p:sp>
      <p:sp>
        <p:nvSpPr>
          <p:cNvPr id="17" name="Text 14"/>
          <p:cNvSpPr txBox="1"/>
          <p:nvPr/>
        </p:nvSpPr>
        <p:spPr>
          <a:xfrm>
            <a:off x="8412480" y="4224528"/>
            <a:ext cx="2971800" cy="914400"/>
          </a:xfrm>
          <a:prstGeom prst="rect">
            <a:avLst/>
          </a:prstGeom>
          <a:noFill/>
          <a:ln/>
        </p:spPr>
        <p:txBody>
          <a:bodyPr wrap="square" lIns="0" tIns="0" rIns="0" bIns="0" rtlCol="0" anchor="ctr"/>
          <a:lstStyle/>
          <a:p>
            <a:pPr algn="ctr" indent="0" marL="0">
              <a:lnSpc>
                <a:spcPct val="115000"/>
              </a:lnSpc>
              <a:buNone/>
            </a:pPr>
            <a:r>
              <a:rPr lang="en-US" sz="1150" dirty="0">
                <a:solidFill>
                  <a:srgbClr val="6B7A8F"/>
                </a:solidFill>
                <a:latin typeface="Calibri" pitchFamily="34" charset="0"/>
                <a:ea typeface="Calibri" pitchFamily="34" charset="-122"/>
                <a:cs typeface="Calibri" pitchFamily="34" charset="-120"/>
              </a:rPr>
              <a:t>A per-page character budget too small to reach the real content</a:t>
            </a:r>
            <a:endParaRPr lang="en-US" sz="1150" dirty="0"/>
          </a:p>
        </p:txBody>
      </p:sp>
      <p:sp>
        <p:nvSpPr>
          <p:cNvPr id="18" name="Text 15"/>
          <p:cNvSpPr txBox="1"/>
          <p:nvPr/>
        </p:nvSpPr>
        <p:spPr>
          <a:xfrm>
            <a:off x="640080" y="5623560"/>
            <a:ext cx="10881360" cy="457200"/>
          </a:xfrm>
          <a:prstGeom prst="rect">
            <a:avLst/>
          </a:prstGeom>
          <a:noFill/>
          <a:ln/>
        </p:spPr>
        <p:txBody>
          <a:bodyPr wrap="square" lIns="0" tIns="0" rIns="0" bIns="0" rtlCol="0" anchor="t"/>
          <a:lstStyle/>
          <a:p>
            <a:pPr algn="ctr" indent="0" marL="0">
              <a:lnSpc>
                <a:spcPct val="112000"/>
              </a:lnSpc>
              <a:buNone/>
            </a:pPr>
            <a:r>
              <a:rPr lang="en-US" sz="1350" i="1" dirty="0">
                <a:solidFill>
                  <a:srgbClr val="6B7A8F"/>
                </a:solidFill>
                <a:latin typeface="Calibri" pitchFamily="34" charset="0"/>
                <a:ea typeface="Calibri" pitchFamily="34" charset="-122"/>
                <a:cs typeface="Calibri" pitchFamily="34" charset="-120"/>
              </a:rPr>
              <a:t>Each fix was necessary — but not sufficient on its own. The extraction only became reliable once every layer was addressed.</a:t>
            </a:r>
            <a:endParaRPr lang="en-US" sz="1350" dirty="0"/>
          </a:p>
        </p:txBody>
      </p:sp>
      <p:sp>
        <p:nvSpPr>
          <p:cNvPr id="19" name="Text 16"/>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20" name="Text 17"/>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ISSUES 1 – 3</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Getting the Basics Right</a:t>
            </a:r>
            <a:endParaRPr lang="en-US" sz="3000" dirty="0"/>
          </a:p>
        </p:txBody>
      </p:sp>
      <p:sp>
        <p:nvSpPr>
          <p:cNvPr id="6" name="Shape 3"/>
          <p:cNvSpPr/>
          <p:nvPr/>
        </p:nvSpPr>
        <p:spPr>
          <a:xfrm>
            <a:off x="777240" y="1965960"/>
            <a:ext cx="3429000" cy="3657600"/>
          </a:xfrm>
          <a:prstGeom prst="roundRect">
            <a:avLst>
              <a:gd name="adj" fmla="val 2400"/>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1033272" y="2194560"/>
            <a:ext cx="548640" cy="548640"/>
          </a:xfrm>
          <a:prstGeom prst="rect">
            <a:avLst/>
          </a:prstGeom>
          <a:noFill/>
          <a:ln/>
        </p:spPr>
        <p:txBody>
          <a:bodyPr wrap="square" lIns="0" tIns="0" rIns="0" bIns="0" rtlCol="0" anchor="ctr"/>
          <a:lstStyle/>
          <a:p>
            <a:pPr indent="0" marL="0">
              <a:buNone/>
            </a:pPr>
            <a:r>
              <a:rPr lang="en-US" sz="2600" b="1" dirty="0">
                <a:solidFill>
                  <a:srgbClr val="F38020"/>
                </a:solidFill>
                <a:latin typeface="Cambria" pitchFamily="34" charset="0"/>
                <a:ea typeface="Cambria" pitchFamily="34" charset="-122"/>
                <a:cs typeface="Cambria" pitchFamily="34" charset="-120"/>
              </a:rPr>
              <a:t>1</a:t>
            </a:r>
            <a:endParaRPr lang="en-US" sz="2600" dirty="0"/>
          </a:p>
        </p:txBody>
      </p:sp>
      <p:sp>
        <p:nvSpPr>
          <p:cNvPr id="8" name="Text 5"/>
          <p:cNvSpPr txBox="1"/>
          <p:nvPr/>
        </p:nvSpPr>
        <p:spPr>
          <a:xfrm>
            <a:off x="1033272" y="2834640"/>
            <a:ext cx="2916936" cy="685800"/>
          </a:xfrm>
          <a:prstGeom prst="rect">
            <a:avLst/>
          </a:prstGeom>
          <a:noFill/>
          <a:ln/>
        </p:spPr>
        <p:txBody>
          <a:bodyPr wrap="square" lIns="0" tIns="0" rIns="0" bIns="0" rtlCol="0" anchor="ctr"/>
          <a:lstStyle/>
          <a:p>
            <a:pPr indent="0" marL="0">
              <a:lnSpc>
                <a:spcPct val="105000"/>
              </a:lnSpc>
              <a:buNone/>
            </a:pPr>
            <a:r>
              <a:rPr lang="en-US" sz="1600" b="1" dirty="0">
                <a:solidFill>
                  <a:srgbClr val="1B2A4A"/>
                </a:solidFill>
                <a:latin typeface="Calibri" pitchFamily="34" charset="0"/>
                <a:ea typeface="Calibri" pitchFamily="34" charset="-122"/>
                <a:cs typeface="Calibri" pitchFamily="34" charset="-120"/>
              </a:rPr>
              <a:t>No Documentation</a:t>
            </a:r>
            <a:endParaRPr lang="en-US" sz="1600" dirty="0"/>
          </a:p>
        </p:txBody>
      </p:sp>
      <p:sp>
        <p:nvSpPr>
          <p:cNvPr id="9" name="Text 6"/>
          <p:cNvSpPr txBox="1"/>
          <p:nvPr/>
        </p:nvSpPr>
        <p:spPr>
          <a:xfrm>
            <a:off x="1033272" y="3566160"/>
            <a:ext cx="2916936" cy="1828800"/>
          </a:xfrm>
          <a:prstGeom prst="rect">
            <a:avLst/>
          </a:prstGeom>
          <a:noFill/>
          <a:ln/>
        </p:spPr>
        <p:txBody>
          <a:bodyPr wrap="square" lIns="0" tIns="0" rIns="0" bIns="0" rtlCol="0" anchor="ctr"/>
          <a:lstStyle/>
          <a:p>
            <a:pPr indent="0" marL="0">
              <a:lnSpc>
                <a:spcPct val="120000"/>
              </a:lnSpc>
              <a:buNone/>
            </a:pPr>
            <a:r>
              <a:rPr lang="en-US" sz="1300" dirty="0">
                <a:solidFill>
                  <a:srgbClr val="6B7A8F"/>
                </a:solidFill>
                <a:latin typeface="Calibri" pitchFamily="34" charset="0"/>
                <a:ea typeface="Calibri" pitchFamily="34" charset="-122"/>
                <a:cs typeface="Calibri" pitchFamily="34" charset="-120"/>
              </a:rPr>
              <a:t>Wrote a README covering endpoints, request/response shapes, local dev, deployment, and secret management.</a:t>
            </a:r>
            <a:endParaRPr lang="en-US" sz="1300" dirty="0"/>
          </a:p>
        </p:txBody>
      </p:sp>
      <p:sp>
        <p:nvSpPr>
          <p:cNvPr id="10" name="Shape 7"/>
          <p:cNvSpPr/>
          <p:nvPr/>
        </p:nvSpPr>
        <p:spPr>
          <a:xfrm>
            <a:off x="4480560" y="1965960"/>
            <a:ext cx="3429000" cy="3657600"/>
          </a:xfrm>
          <a:prstGeom prst="roundRect">
            <a:avLst>
              <a:gd name="adj" fmla="val 2400"/>
            </a:avLst>
          </a:prstGeom>
          <a:solidFill>
            <a:srgbClr val="F4F7FA"/>
          </a:solidFill>
          <a:ln/>
          <a:effectLst>
            <a:outerShdw sx="100000" sy="100000" kx="0" ky="0" algn="bl" rotWithShape="0" blurRad="76200" dist="25400" dir="5400000">
              <a:srgbClr val="1B2A4A">
                <a:alpha val="18000"/>
              </a:srgbClr>
            </a:outerShdw>
          </a:effectLst>
        </p:spPr>
      </p:sp>
      <p:sp>
        <p:nvSpPr>
          <p:cNvPr id="11" name="Text 8"/>
          <p:cNvSpPr txBox="1"/>
          <p:nvPr/>
        </p:nvSpPr>
        <p:spPr>
          <a:xfrm>
            <a:off x="4736592" y="2194560"/>
            <a:ext cx="548640" cy="548640"/>
          </a:xfrm>
          <a:prstGeom prst="rect">
            <a:avLst/>
          </a:prstGeom>
          <a:noFill/>
          <a:ln/>
        </p:spPr>
        <p:txBody>
          <a:bodyPr wrap="square" lIns="0" tIns="0" rIns="0" bIns="0" rtlCol="0" anchor="ctr"/>
          <a:lstStyle/>
          <a:p>
            <a:pPr indent="0" marL="0">
              <a:buNone/>
            </a:pPr>
            <a:r>
              <a:rPr lang="en-US" sz="2600" b="1" dirty="0">
                <a:solidFill>
                  <a:srgbClr val="F38020"/>
                </a:solidFill>
                <a:latin typeface="Cambria" pitchFamily="34" charset="0"/>
                <a:ea typeface="Cambria" pitchFamily="34" charset="-122"/>
                <a:cs typeface="Cambria" pitchFamily="34" charset="-120"/>
              </a:rPr>
              <a:t>2</a:t>
            </a:r>
            <a:endParaRPr lang="en-US" sz="2600" dirty="0"/>
          </a:p>
        </p:txBody>
      </p:sp>
      <p:sp>
        <p:nvSpPr>
          <p:cNvPr id="12" name="Text 9"/>
          <p:cNvSpPr txBox="1"/>
          <p:nvPr/>
        </p:nvSpPr>
        <p:spPr>
          <a:xfrm>
            <a:off x="4736592" y="2834640"/>
            <a:ext cx="2916936" cy="685800"/>
          </a:xfrm>
          <a:prstGeom prst="rect">
            <a:avLst/>
          </a:prstGeom>
          <a:noFill/>
          <a:ln/>
        </p:spPr>
        <p:txBody>
          <a:bodyPr wrap="square" lIns="0" tIns="0" rIns="0" bIns="0" rtlCol="0" anchor="ctr"/>
          <a:lstStyle/>
          <a:p>
            <a:pPr indent="0" marL="0">
              <a:lnSpc>
                <a:spcPct val="105000"/>
              </a:lnSpc>
              <a:buNone/>
            </a:pPr>
            <a:r>
              <a:rPr lang="en-US" sz="1600" b="1" dirty="0">
                <a:solidFill>
                  <a:srgbClr val="1B2A4A"/>
                </a:solidFill>
                <a:latin typeface="Calibri" pitchFamily="34" charset="0"/>
                <a:ea typeface="Calibri" pitchFamily="34" charset="-122"/>
                <a:cs typeface="Calibri" pitchFamily="34" charset="-120"/>
              </a:rPr>
              <a:t>Deploy Warnings</a:t>
            </a:r>
            <a:endParaRPr lang="en-US" sz="1600" dirty="0"/>
          </a:p>
        </p:txBody>
      </p:sp>
      <p:sp>
        <p:nvSpPr>
          <p:cNvPr id="13" name="Text 10"/>
          <p:cNvSpPr txBox="1"/>
          <p:nvPr/>
        </p:nvSpPr>
        <p:spPr>
          <a:xfrm>
            <a:off x="4736592" y="3566160"/>
            <a:ext cx="2916936" cy="1828800"/>
          </a:xfrm>
          <a:prstGeom prst="rect">
            <a:avLst/>
          </a:prstGeom>
          <a:noFill/>
          <a:ln/>
        </p:spPr>
        <p:txBody>
          <a:bodyPr wrap="square" lIns="0" tIns="0" rIns="0" bIns="0" rtlCol="0" anchor="ctr"/>
          <a:lstStyle/>
          <a:p>
            <a:pPr indent="0" marL="0">
              <a:lnSpc>
                <a:spcPct val="120000"/>
              </a:lnSpc>
              <a:buNone/>
            </a:pPr>
            <a:r>
              <a:rPr lang="en-US" sz="1300" dirty="0">
                <a:solidFill>
                  <a:srgbClr val="6B7A8F"/>
                </a:solidFill>
                <a:latin typeface="Calibri" pitchFamily="34" charset="0"/>
                <a:ea typeface="Calibri" pitchFamily="34" charset="-122"/>
                <a:cs typeface="Calibri" pitchFamily="34" charset="-120"/>
              </a:rPr>
              <a:t>workers_dev and preview_urls were left implicit. Wrangler defaults them — but warns. Set both explicitly.</a:t>
            </a:r>
            <a:endParaRPr lang="en-US" sz="1300" dirty="0"/>
          </a:p>
        </p:txBody>
      </p:sp>
      <p:sp>
        <p:nvSpPr>
          <p:cNvPr id="14" name="Shape 11"/>
          <p:cNvSpPr/>
          <p:nvPr/>
        </p:nvSpPr>
        <p:spPr>
          <a:xfrm>
            <a:off x="8183880" y="1965960"/>
            <a:ext cx="3429000" cy="3657600"/>
          </a:xfrm>
          <a:prstGeom prst="roundRect">
            <a:avLst>
              <a:gd name="adj" fmla="val 2400"/>
            </a:avLst>
          </a:prstGeom>
          <a:solidFill>
            <a:srgbClr val="F4F7FA"/>
          </a:solidFill>
          <a:ln/>
          <a:effectLst>
            <a:outerShdw sx="100000" sy="100000" kx="0" ky="0" algn="bl" rotWithShape="0" blurRad="76200" dist="25400" dir="5400000">
              <a:srgbClr val="1B2A4A">
                <a:alpha val="18000"/>
              </a:srgbClr>
            </a:outerShdw>
          </a:effectLst>
        </p:spPr>
      </p:sp>
      <p:sp>
        <p:nvSpPr>
          <p:cNvPr id="15" name="Text 12"/>
          <p:cNvSpPr txBox="1"/>
          <p:nvPr/>
        </p:nvSpPr>
        <p:spPr>
          <a:xfrm>
            <a:off x="8439912" y="2194560"/>
            <a:ext cx="548640" cy="548640"/>
          </a:xfrm>
          <a:prstGeom prst="rect">
            <a:avLst/>
          </a:prstGeom>
          <a:noFill/>
          <a:ln/>
        </p:spPr>
        <p:txBody>
          <a:bodyPr wrap="square" lIns="0" tIns="0" rIns="0" bIns="0" rtlCol="0" anchor="ctr"/>
          <a:lstStyle/>
          <a:p>
            <a:pPr indent="0" marL="0">
              <a:buNone/>
            </a:pPr>
            <a:r>
              <a:rPr lang="en-US" sz="2600" b="1" dirty="0">
                <a:solidFill>
                  <a:srgbClr val="F38020"/>
                </a:solidFill>
                <a:latin typeface="Cambria" pitchFamily="34" charset="0"/>
                <a:ea typeface="Cambria" pitchFamily="34" charset="-122"/>
                <a:cs typeface="Cambria" pitchFamily="34" charset="-120"/>
              </a:rPr>
              <a:t>3</a:t>
            </a:r>
            <a:endParaRPr lang="en-US" sz="2600" dirty="0"/>
          </a:p>
        </p:txBody>
      </p:sp>
      <p:sp>
        <p:nvSpPr>
          <p:cNvPr id="16" name="Text 13"/>
          <p:cNvSpPr txBox="1"/>
          <p:nvPr/>
        </p:nvSpPr>
        <p:spPr>
          <a:xfrm>
            <a:off x="8439912" y="2834640"/>
            <a:ext cx="2916936" cy="685800"/>
          </a:xfrm>
          <a:prstGeom prst="rect">
            <a:avLst/>
          </a:prstGeom>
          <a:noFill/>
          <a:ln/>
        </p:spPr>
        <p:txBody>
          <a:bodyPr wrap="square" lIns="0" tIns="0" rIns="0" bIns="0" rtlCol="0" anchor="ctr"/>
          <a:lstStyle/>
          <a:p>
            <a:pPr indent="0" marL="0">
              <a:lnSpc>
                <a:spcPct val="105000"/>
              </a:lnSpc>
              <a:buNone/>
            </a:pPr>
            <a:r>
              <a:rPr lang="en-US" sz="1600" b="1" dirty="0">
                <a:solidFill>
                  <a:srgbClr val="1B2A4A"/>
                </a:solidFill>
                <a:latin typeface="Calibri" pitchFamily="34" charset="0"/>
                <a:ea typeface="Calibri" pitchFamily="34" charset="-122"/>
                <a:cs typeface="Calibri" pitchFamily="34" charset="-120"/>
              </a:rPr>
              <a:t>A TypeError in Production</a:t>
            </a:r>
            <a:endParaRPr lang="en-US" sz="1600" dirty="0"/>
          </a:p>
        </p:txBody>
      </p:sp>
      <p:sp>
        <p:nvSpPr>
          <p:cNvPr id="17" name="Text 14"/>
          <p:cNvSpPr txBox="1"/>
          <p:nvPr/>
        </p:nvSpPr>
        <p:spPr>
          <a:xfrm>
            <a:off x="8439912" y="3566160"/>
            <a:ext cx="2916936" cy="1828800"/>
          </a:xfrm>
          <a:prstGeom prst="rect">
            <a:avLst/>
          </a:prstGeom>
          <a:noFill/>
          <a:ln/>
        </p:spPr>
        <p:txBody>
          <a:bodyPr wrap="square" lIns="0" tIns="0" rIns="0" bIns="0" rtlCol="0" anchor="ctr"/>
          <a:lstStyle/>
          <a:p>
            <a:pPr indent="0" marL="0">
              <a:lnSpc>
                <a:spcPct val="120000"/>
              </a:lnSpc>
              <a:buNone/>
            </a:pPr>
            <a:r>
              <a:rPr lang="en-US" sz="1300" dirty="0">
                <a:solidFill>
                  <a:srgbClr val="6B7A8F"/>
                </a:solidFill>
                <a:latin typeface="Calibri" pitchFamily="34" charset="0"/>
                <a:ea typeface="Calibri" pitchFamily="34" charset="-122"/>
                <a:cs typeface="Calibri" pitchFamily="34" charset="-120"/>
              </a:rPr>
              <a:t>Workers AI can return response.response as a non-string. Added aiResponseToText() to normalize it safely.</a:t>
            </a:r>
            <a:endParaRPr lang="en-US" sz="1300" dirty="0"/>
          </a:p>
        </p:txBody>
      </p:sp>
      <p:sp>
        <p:nvSpPr>
          <p:cNvPr id="18" name="Text 15"/>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9" name="Text 16"/>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4 — THE ROOT OF IT ALL</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Values Were Never There to Find</a:t>
            </a:r>
            <a:endParaRPr lang="en-US" sz="3000" dirty="0"/>
          </a:p>
        </p:txBody>
      </p:sp>
      <p:sp>
        <p:nvSpPr>
          <p:cNvPr id="6" name="Shape 3"/>
          <p:cNvSpPr/>
          <p:nvPr/>
        </p:nvSpPr>
        <p:spPr>
          <a:xfrm>
            <a:off x="640080" y="1874520"/>
            <a:ext cx="10908792" cy="777240"/>
          </a:xfrm>
          <a:prstGeom prst="roundRect">
            <a:avLst>
              <a:gd name="adj" fmla="val 10588"/>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39112"/>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SYMPTOM</a:t>
            </a:r>
            <a:endParaRPr lang="en-US" sz="1100" dirty="0"/>
          </a:p>
        </p:txBody>
      </p:sp>
      <p:sp>
        <p:nvSpPr>
          <p:cNvPr id="8" name="Text 5"/>
          <p:cNvSpPr txBox="1"/>
          <p:nvPr/>
        </p:nvSpPr>
        <p:spPr>
          <a:xfrm>
            <a:off x="914400" y="2313432"/>
            <a:ext cx="10332720" cy="22860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The extraction never included leadingedje.com's real Core Values — even though /careers was being scanned successfully.</a:t>
            </a:r>
            <a:endParaRPr lang="en-US" sz="1350" dirty="0"/>
          </a:p>
        </p:txBody>
      </p:sp>
      <p:sp>
        <p:nvSpPr>
          <p:cNvPr id="9" name="Shape 6"/>
          <p:cNvSpPr/>
          <p:nvPr/>
        </p:nvSpPr>
        <p:spPr>
          <a:xfrm>
            <a:off x="640080" y="2798064"/>
            <a:ext cx="10908792" cy="1417320"/>
          </a:xfrm>
          <a:prstGeom prst="roundRect">
            <a:avLst>
              <a:gd name="adj" fmla="val 5806"/>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914400" y="2962656"/>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ROOT CAUSE</a:t>
            </a:r>
            <a:endParaRPr lang="en-US" sz="1100" dirty="0"/>
          </a:p>
        </p:txBody>
      </p:sp>
      <p:sp>
        <p:nvSpPr>
          <p:cNvPr id="11" name="Text 8"/>
          <p:cNvSpPr txBox="1"/>
          <p:nvPr/>
        </p:nvSpPr>
        <p:spPr>
          <a:xfrm>
            <a:off x="914400" y="3236976"/>
            <a:ext cx="10332720" cy="86868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leadingedje.com is an Angular single-page app with no server-side rendering. Values are injected into the DOM by client-side JavaScript after the page loads — and a Worker's plain fetch() never executes JavaScript. The content simply wasn't in the server's response.</a:t>
            </a:r>
            <a:endParaRPr lang="en-US" sz="1350" dirty="0"/>
          </a:p>
        </p:txBody>
      </p:sp>
      <p:sp>
        <p:nvSpPr>
          <p:cNvPr id="12" name="Shape 9"/>
          <p:cNvSpPr/>
          <p:nvPr/>
        </p:nvSpPr>
        <p:spPr>
          <a:xfrm>
            <a:off x="640080" y="4361688"/>
            <a:ext cx="10908792" cy="1234440"/>
          </a:xfrm>
          <a:prstGeom prst="roundRect">
            <a:avLst>
              <a:gd name="adj" fmla="val 6667"/>
            </a:avLst>
          </a:prstGeom>
          <a:solidFill>
            <a:srgbClr val="F4F7FA"/>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4526280"/>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DECISION &amp; FIX</a:t>
            </a:r>
            <a:endParaRPr lang="en-US" sz="1100" dirty="0"/>
          </a:p>
        </p:txBody>
      </p:sp>
      <p:sp>
        <p:nvSpPr>
          <p:cNvPr id="14" name="Text 11"/>
          <p:cNvSpPr txBox="1"/>
          <p:nvPr/>
        </p:nvSpPr>
        <p:spPr>
          <a:xfrm>
            <a:off x="914400" y="4800600"/>
            <a:ext cx="10332720" cy="68580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Confirmed by fetching the raw HTML directly and finding the heading present but the values absent. Added Cloudflare Browser Rendering as a fallback fetch path — a real headless browser that actually runs the page's JavaScript.</a:t>
            </a:r>
            <a:endParaRPr lang="en-US" sz="1350" dirty="0"/>
          </a:p>
        </p:txBody>
      </p:sp>
      <p:sp>
        <p:nvSpPr>
          <p:cNvPr id="15" name="Text 12"/>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6" name="Text 13"/>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5</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 Token in Plain Sight</a:t>
            </a:r>
            <a:endParaRPr lang="en-US" sz="3000" dirty="0"/>
          </a:p>
        </p:txBody>
      </p:sp>
      <p:sp>
        <p:nvSpPr>
          <p:cNvPr id="6" name="Shape 3"/>
          <p:cNvSpPr/>
          <p:nvPr/>
        </p:nvSpPr>
        <p:spPr>
          <a:xfrm>
            <a:off x="640080" y="1874520"/>
            <a:ext cx="10908792" cy="777240"/>
          </a:xfrm>
          <a:prstGeom prst="roundRect">
            <a:avLst>
              <a:gd name="adj" fmla="val 10588"/>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39112"/>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SYMPTOM</a:t>
            </a:r>
            <a:endParaRPr lang="en-US" sz="1100" dirty="0"/>
          </a:p>
        </p:txBody>
      </p:sp>
      <p:sp>
        <p:nvSpPr>
          <p:cNvPr id="8" name="Text 5"/>
          <p:cNvSpPr txBox="1"/>
          <p:nvPr/>
        </p:nvSpPr>
        <p:spPr>
          <a:xfrm>
            <a:off x="914400" y="2313432"/>
            <a:ext cx="10332720" cy="22860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wrangler deploy printed the live CLOUDFLARE_API_TOKEN value in cleartext, right in a routine config-diff warning.</a:t>
            </a:r>
            <a:endParaRPr lang="en-US" sz="1350" dirty="0"/>
          </a:p>
        </p:txBody>
      </p:sp>
      <p:sp>
        <p:nvSpPr>
          <p:cNvPr id="9" name="Shape 6"/>
          <p:cNvSpPr/>
          <p:nvPr/>
        </p:nvSpPr>
        <p:spPr>
          <a:xfrm>
            <a:off x="640080" y="2798064"/>
            <a:ext cx="10908792" cy="1234440"/>
          </a:xfrm>
          <a:prstGeom prst="roundRect">
            <a:avLst>
              <a:gd name="adj" fmla="val 6667"/>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914400" y="2962656"/>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ROOT CAUSE</a:t>
            </a:r>
            <a:endParaRPr lang="en-US" sz="1100" dirty="0"/>
          </a:p>
        </p:txBody>
      </p:sp>
      <p:sp>
        <p:nvSpPr>
          <p:cNvPr id="11" name="Text 8"/>
          <p:cNvSpPr txBox="1"/>
          <p:nvPr/>
        </p:nvSpPr>
        <p:spPr>
          <a:xfrm>
            <a:off x="914400" y="3236976"/>
            <a:ext cx="10332720" cy="68580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The token had been added as a plaintext dashboard Variable instead of a Secret. Wrangler only ever masks real Secrets — plaintext vars get diffed and printed, every time.</a:t>
            </a:r>
            <a:endParaRPr lang="en-US" sz="1350" dirty="0"/>
          </a:p>
        </p:txBody>
      </p:sp>
      <p:sp>
        <p:nvSpPr>
          <p:cNvPr id="12" name="Shape 9"/>
          <p:cNvSpPr/>
          <p:nvPr/>
        </p:nvSpPr>
        <p:spPr>
          <a:xfrm>
            <a:off x="640080" y="4178808"/>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4343400"/>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FIX</a:t>
            </a:r>
            <a:endParaRPr lang="en-US" sz="1100" dirty="0"/>
          </a:p>
        </p:txBody>
      </p:sp>
      <p:sp>
        <p:nvSpPr>
          <p:cNvPr id="14" name="Text 11"/>
          <p:cNvSpPr txBox="1"/>
          <p:nvPr/>
        </p:nvSpPr>
        <p:spPr>
          <a:xfrm>
            <a:off x="914400" y="4617720"/>
            <a:ext cx="10332720" cy="41148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Revoked the exposed token immediately, deleted the plaintext variable, and set a new one properly via wrangler secret put CLOUDFLARE_API_TOKEN.</a:t>
            </a:r>
            <a:endParaRPr lang="en-US" sz="1350" dirty="0"/>
          </a:p>
        </p:txBody>
      </p:sp>
      <p:sp>
        <p:nvSpPr>
          <p:cNvPr id="15" name="Shape 12"/>
          <p:cNvSpPr/>
          <p:nvPr/>
        </p:nvSpPr>
        <p:spPr>
          <a:xfrm>
            <a:off x="640080" y="5330952"/>
            <a:ext cx="10908792" cy="594360"/>
          </a:xfrm>
          <a:prstGeom prst="roundRect">
            <a:avLst>
              <a:gd name="adj" fmla="val 13846"/>
            </a:avLst>
          </a:prstGeom>
          <a:solidFill>
            <a:srgbClr val="FDEEE0"/>
          </a:solidFill>
          <a:ln/>
          <a:effectLst>
            <a:outerShdw sx="100000" sy="100000" kx="0" ky="0" algn="bl" rotWithShape="0" blurRad="76200" dist="25400" dir="5400000">
              <a:srgbClr val="1B2A4A">
                <a:alpha val="18000"/>
              </a:srgbClr>
            </a:outerShdw>
          </a:effectLst>
        </p:spPr>
      </p:sp>
      <p:sp>
        <p:nvSpPr>
          <p:cNvPr id="16" name="Text 13"/>
          <p:cNvSpPr txBox="1"/>
          <p:nvPr/>
        </p:nvSpPr>
        <p:spPr>
          <a:xfrm>
            <a:off x="914400" y="5330952"/>
            <a:ext cx="10332720" cy="594360"/>
          </a:xfrm>
          <a:prstGeom prst="rect">
            <a:avLst/>
          </a:prstGeom>
          <a:noFill/>
          <a:ln/>
        </p:spPr>
        <p:txBody>
          <a:bodyPr wrap="square" lIns="0" tIns="0" rIns="0" bIns="0" rtlCol="0" anchor="ctr"/>
          <a:lstStyle/>
          <a:p>
            <a:pPr indent="0" marL="0">
              <a:buNone/>
            </a:pPr>
            <a:r>
              <a:rPr lang="en-US" sz="1300" b="1" i="1" dirty="0">
                <a:solidFill>
                  <a:srgbClr val="1B2A4A"/>
                </a:solidFill>
                <a:latin typeface="Calibri" pitchFamily="34" charset="0"/>
                <a:ea typeface="Calibri" pitchFamily="34" charset="-122"/>
                <a:cs typeface="Calibri" pitchFamily="34" charset="-120"/>
              </a:rPr>
              <a:t>Rule of thumb: if a config value is a credential, it's a secret — never a var, even “just for testing.”</a:t>
            </a:r>
            <a:endParaRPr lang="en-US" sz="1300" dirty="0"/>
          </a:p>
        </p:txBody>
      </p:sp>
      <p:sp>
        <p:nvSpPr>
          <p:cNvPr id="17" name="Text 14"/>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8" name="Text 15"/>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6</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Don't Render Every Page</a:t>
            </a:r>
            <a:endParaRPr lang="en-US" sz="3000" dirty="0"/>
          </a:p>
        </p:txBody>
      </p:sp>
      <p:sp>
        <p:nvSpPr>
          <p:cNvPr id="6" name="Text 3"/>
          <p:cNvSpPr txBox="1"/>
          <p:nvPr/>
        </p:nvSpPr>
        <p:spPr>
          <a:xfrm>
            <a:off x="640080" y="1783080"/>
            <a:ext cx="10881360" cy="685800"/>
          </a:xfrm>
          <a:prstGeom prst="rect">
            <a:avLst/>
          </a:prstGeom>
          <a:noFill/>
          <a:ln/>
        </p:spPr>
        <p:txBody>
          <a:bodyPr wrap="square" lIns="0" tIns="0" rIns="0" bIns="0" rtlCol="0" anchor="t"/>
          <a:lstStyle/>
          <a:p>
            <a:pPr indent="0" marL="0">
              <a:lnSpc>
                <a:spcPct val="112000"/>
              </a:lnSpc>
              <a:buNone/>
            </a:pPr>
            <a:r>
              <a:rPr lang="en-US" sz="1400" dirty="0">
                <a:solidFill>
                  <a:srgbClr val="6B7A8F"/>
                </a:solidFill>
                <a:latin typeface="Calibri" pitchFamily="34" charset="0"/>
                <a:ea typeface="Calibri" pitchFamily="34" charset="-122"/>
                <a:cs typeface="Calibri" pitchFamily="34" charset="-120"/>
              </a:rPr>
              <a:t>Browser Rendering is slow and billed separately — spinning up a real browser for every page isn't worth it when most pages render fine with a plain fetch(). The two-tier strategy: try cheap first, escalate only when needed.</a:t>
            </a:r>
            <a:endParaRPr lang="en-US" sz="1400" dirty="0"/>
          </a:p>
        </p:txBody>
      </p:sp>
      <p:sp>
        <p:nvSpPr>
          <p:cNvPr id="7" name="Shape 4"/>
          <p:cNvSpPr/>
          <p:nvPr/>
        </p:nvSpPr>
        <p:spPr>
          <a:xfrm>
            <a:off x="640080" y="2834640"/>
            <a:ext cx="3017520" cy="1051560"/>
          </a:xfrm>
          <a:prstGeom prst="roundRect">
            <a:avLst>
              <a:gd name="adj" fmla="val 7826"/>
            </a:avLst>
          </a:prstGeom>
          <a:solidFill>
            <a:srgbClr val="F4F7FA"/>
          </a:solidFill>
          <a:ln/>
          <a:effectLst>
            <a:outerShdw sx="100000" sy="100000" kx="0" ky="0" algn="bl" rotWithShape="0" blurRad="76200" dist="25400" dir="5400000">
              <a:srgbClr val="1B2A4A">
                <a:alpha val="18000"/>
              </a:srgbClr>
            </a:outerShdw>
          </a:effectLst>
        </p:spPr>
      </p:sp>
      <p:sp>
        <p:nvSpPr>
          <p:cNvPr id="8" name="Text 5"/>
          <p:cNvSpPr txBox="1"/>
          <p:nvPr/>
        </p:nvSpPr>
        <p:spPr>
          <a:xfrm>
            <a:off x="822960" y="2971800"/>
            <a:ext cx="26517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Plain fetch()</a:t>
            </a:r>
            <a:endParaRPr lang="en-US" sz="1500" dirty="0"/>
          </a:p>
        </p:txBody>
      </p:sp>
      <p:sp>
        <p:nvSpPr>
          <p:cNvPr id="9" name="Text 6"/>
          <p:cNvSpPr txBox="1"/>
          <p:nvPr/>
        </p:nvSpPr>
        <p:spPr>
          <a:xfrm>
            <a:off x="822960" y="3364992"/>
            <a:ext cx="2651760" cy="457200"/>
          </a:xfrm>
          <a:prstGeom prst="rect">
            <a:avLst/>
          </a:prstGeom>
          <a:noFill/>
          <a:ln/>
        </p:spPr>
        <p:txBody>
          <a:bodyPr wrap="square" lIns="0" tIns="0" rIns="0" bIns="0" rtlCol="0" anchor="ctr"/>
          <a:lstStyle/>
          <a:p>
            <a:pPr indent="0" marL="0">
              <a:buNone/>
            </a:pPr>
            <a:r>
              <a:rPr lang="en-US" sz="1150" dirty="0">
                <a:solidFill>
                  <a:srgbClr val="6B7A8F"/>
                </a:solidFill>
                <a:latin typeface="Calibri" pitchFamily="34" charset="0"/>
                <a:ea typeface="Calibri" pitchFamily="34" charset="-122"/>
                <a:cs typeface="Calibri" pitchFamily="34" charset="-120"/>
              </a:rPr>
              <a:t>Cheap. Fast. Tried first, always.</a:t>
            </a:r>
            <a:endParaRPr lang="en-US" sz="1150" dirty="0"/>
          </a:p>
        </p:txBody>
      </p:sp>
      <p:sp>
        <p:nvSpPr>
          <p:cNvPr id="10" name="Text 7"/>
          <p:cNvSpPr txBox="1"/>
          <p:nvPr/>
        </p:nvSpPr>
        <p:spPr>
          <a:xfrm>
            <a:off x="3675888" y="3159252"/>
            <a:ext cx="411480" cy="411480"/>
          </a:xfrm>
          <a:prstGeom prst="rect">
            <a:avLst/>
          </a:prstGeom>
          <a:noFill/>
          <a:ln/>
        </p:spPr>
        <p:txBody>
          <a:bodyPr wrap="square" lIns="0" tIns="0" rIns="0" bIns="0" rtlCol="0" anchor="ctr"/>
          <a:lstStyle/>
          <a:p>
            <a:pPr algn="ctr" indent="0" marL="0">
              <a:buNone/>
            </a:pPr>
            <a:r>
              <a:rPr lang="en-US" sz="2000" b="1" dirty="0">
                <a:solidFill>
                  <a:srgbClr val="F38020"/>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160520" y="2834640"/>
            <a:ext cx="3703320" cy="1051560"/>
          </a:xfrm>
          <a:prstGeom prst="roundRect">
            <a:avLst>
              <a:gd name="adj" fmla="val 7826"/>
            </a:avLst>
          </a:prstGeom>
          <a:solidFill>
            <a:srgbClr val="FDEEE0"/>
          </a:solidFill>
          <a:ln/>
          <a:effectLst>
            <a:outerShdw sx="100000" sy="100000" kx="0" ky="0" algn="bl" rotWithShape="0" blurRad="76200" dist="25400" dir="5400000">
              <a:srgbClr val="1B2A4A">
                <a:alpha val="18000"/>
              </a:srgbClr>
            </a:outerShdw>
          </a:effectLst>
        </p:spPr>
      </p:sp>
      <p:sp>
        <p:nvSpPr>
          <p:cNvPr id="12" name="Text 9"/>
          <p:cNvSpPr txBox="1"/>
          <p:nvPr/>
        </p:nvSpPr>
        <p:spPr>
          <a:xfrm>
            <a:off x="4343400" y="2944368"/>
            <a:ext cx="333756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looksThin(text, html)?</a:t>
            </a:r>
            <a:endParaRPr lang="en-US" sz="1400" dirty="0"/>
          </a:p>
        </p:txBody>
      </p:sp>
      <p:sp>
        <p:nvSpPr>
          <p:cNvPr id="13" name="Text 10"/>
          <p:cNvSpPr txBox="1"/>
          <p:nvPr/>
        </p:nvSpPr>
        <p:spPr>
          <a:xfrm>
            <a:off x="4343400" y="3291840"/>
            <a:ext cx="3337560" cy="320040"/>
          </a:xfrm>
          <a:prstGeom prst="rect">
            <a:avLst/>
          </a:prstGeom>
          <a:noFill/>
          <a:ln/>
        </p:spPr>
        <p:txBody>
          <a:bodyPr wrap="square" lIns="0" tIns="0" rIns="0" bIns="0" rtlCol="0" anchor="ctr"/>
          <a:lstStyle/>
          <a:p>
            <a:pPr indent="0" marL="0">
              <a:buNone/>
            </a:pPr>
            <a:r>
              <a:rPr lang="en-US" sz="1150" dirty="0">
                <a:solidFill>
                  <a:srgbClr val="1B2A4A"/>
                </a:solidFill>
                <a:latin typeface="Courier New" pitchFamily="34" charset="0"/>
                <a:ea typeface="Courier New" pitchFamily="34" charset="-122"/>
                <a:cs typeface="Courier New" pitchFamily="34" charset="-120"/>
              </a:rPr>
              <a:t>&lt; 300 characters, OR text-to-HTML ratio &lt; 5%</a:t>
            </a:r>
            <a:endParaRPr lang="en-US" sz="1150" dirty="0"/>
          </a:p>
        </p:txBody>
      </p:sp>
      <p:sp>
        <p:nvSpPr>
          <p:cNvPr id="14" name="Text 11"/>
          <p:cNvSpPr txBox="1"/>
          <p:nvPr/>
        </p:nvSpPr>
        <p:spPr>
          <a:xfrm>
            <a:off x="4343400" y="3593592"/>
            <a:ext cx="3337560" cy="274320"/>
          </a:xfrm>
          <a:prstGeom prst="rect">
            <a:avLst/>
          </a:prstGeom>
          <a:noFill/>
          <a:ln/>
        </p:spPr>
        <p:txBody>
          <a:bodyPr wrap="square" lIns="0" tIns="0" rIns="0" bIns="0" rtlCol="0" anchor="ctr"/>
          <a:lstStyle/>
          <a:p>
            <a:pPr indent="0" marL="0">
              <a:buNone/>
            </a:pPr>
            <a:r>
              <a:rPr lang="en-US" sz="1050" i="1" dirty="0">
                <a:solidFill>
                  <a:srgbClr val="6B7A8F"/>
                </a:solidFill>
                <a:latin typeface="Calibri" pitchFamily="34" charset="0"/>
                <a:ea typeface="Calibri" pitchFamily="34" charset="-122"/>
                <a:cs typeface="Calibri" pitchFamily="34" charset="-120"/>
              </a:rPr>
              <a:t>A large JS bundle rendering almost no static text is the signature of a client-rendered SPA shell.</a:t>
            </a:r>
            <a:endParaRPr lang="en-US" sz="1050" dirty="0"/>
          </a:p>
        </p:txBody>
      </p:sp>
      <p:sp>
        <p:nvSpPr>
          <p:cNvPr id="15" name="Text 12"/>
          <p:cNvSpPr txBox="1"/>
          <p:nvPr/>
        </p:nvSpPr>
        <p:spPr>
          <a:xfrm>
            <a:off x="7882128" y="3159252"/>
            <a:ext cx="411480" cy="411480"/>
          </a:xfrm>
          <a:prstGeom prst="rect">
            <a:avLst/>
          </a:prstGeom>
          <a:noFill/>
          <a:ln/>
        </p:spPr>
        <p:txBody>
          <a:bodyPr wrap="square" lIns="0" tIns="0" rIns="0" bIns="0" rtlCol="0" anchor="ctr"/>
          <a:lstStyle/>
          <a:p>
            <a:pPr algn="ctr" indent="0" marL="0">
              <a:buNone/>
            </a:pPr>
            <a:r>
              <a:rPr lang="en-US" sz="2000" b="1" dirty="0">
                <a:solidFill>
                  <a:srgbClr val="F38020"/>
                </a:solidFill>
                <a:latin typeface="Calibri" pitchFamily="34" charset="0"/>
                <a:ea typeface="Calibri" pitchFamily="34" charset="-122"/>
                <a:cs typeface="Calibri" pitchFamily="34" charset="-120"/>
              </a:rPr>
              <a:t>&gt;</a:t>
            </a:r>
            <a:endParaRPr lang="en-US" sz="2000" dirty="0"/>
          </a:p>
        </p:txBody>
      </p:sp>
      <p:sp>
        <p:nvSpPr>
          <p:cNvPr id="16" name="Shape 13"/>
          <p:cNvSpPr/>
          <p:nvPr/>
        </p:nvSpPr>
        <p:spPr>
          <a:xfrm>
            <a:off x="8321040" y="2834640"/>
            <a:ext cx="2770632" cy="1051560"/>
          </a:xfrm>
          <a:prstGeom prst="roundRect">
            <a:avLst>
              <a:gd name="adj" fmla="val 7826"/>
            </a:avLst>
          </a:prstGeom>
          <a:solidFill>
            <a:srgbClr val="1B2A4A"/>
          </a:solidFill>
          <a:ln/>
          <a:effectLst>
            <a:outerShdw sx="100000" sy="100000" kx="0" ky="0" algn="bl" rotWithShape="0" blurRad="76200" dist="25400" dir="5400000">
              <a:srgbClr val="1B2A4A">
                <a:alpha val="18000"/>
              </a:srgbClr>
            </a:outerShdw>
          </a:effectLst>
        </p:spPr>
      </p:sp>
      <p:sp>
        <p:nvSpPr>
          <p:cNvPr id="17" name="Text 14"/>
          <p:cNvSpPr txBox="1"/>
          <p:nvPr/>
        </p:nvSpPr>
        <p:spPr>
          <a:xfrm>
            <a:off x="8485632" y="2971800"/>
            <a:ext cx="24688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Browser Rendering</a:t>
            </a:r>
            <a:endParaRPr lang="en-US" sz="1400" dirty="0"/>
          </a:p>
        </p:txBody>
      </p:sp>
      <p:sp>
        <p:nvSpPr>
          <p:cNvPr id="18" name="Text 15"/>
          <p:cNvSpPr txBox="1"/>
          <p:nvPr/>
        </p:nvSpPr>
        <p:spPr>
          <a:xfrm>
            <a:off x="8485632" y="3364992"/>
            <a:ext cx="2468880" cy="457200"/>
          </a:xfrm>
          <a:prstGeom prst="rect">
            <a:avLst/>
          </a:prstGeom>
          <a:noFill/>
          <a:ln/>
        </p:spPr>
        <p:txBody>
          <a:bodyPr wrap="square" lIns="0" tIns="0" rIns="0" bIns="0" rtlCol="0" anchor="ctr"/>
          <a:lstStyle/>
          <a:p>
            <a:pPr indent="0" marL="0">
              <a:buNone/>
            </a:pPr>
            <a:r>
              <a:rPr lang="en-US" sz="1100" dirty="0">
                <a:solidFill>
                  <a:srgbClr val="EAF0F6"/>
                </a:solidFill>
                <a:latin typeface="Calibri" pitchFamily="34" charset="0"/>
                <a:ea typeface="Calibri" pitchFamily="34" charset="-122"/>
                <a:cs typeface="Calibri" pitchFamily="34" charset="-120"/>
              </a:rPr>
              <a:t>Only when thin. A real browser, only when truly needed.</a:t>
            </a:r>
            <a:endParaRPr lang="en-US" sz="1100" dirty="0"/>
          </a:p>
        </p:txBody>
      </p:sp>
      <p:sp>
        <p:nvSpPr>
          <p:cNvPr id="19" name="Text 16"/>
          <p:cNvSpPr txBox="1"/>
          <p:nvPr/>
        </p:nvSpPr>
        <p:spPr>
          <a:xfrm>
            <a:off x="640080" y="4343400"/>
            <a:ext cx="10881360" cy="1280160"/>
          </a:xfrm>
          <a:prstGeom prst="rect">
            <a:avLst/>
          </a:prstGeom>
          <a:noFill/>
          <a:ln/>
        </p:spPr>
        <p:txBody>
          <a:bodyPr wrap="square" lIns="0" tIns="0" rIns="0" bIns="0" rtlCol="0" anchor="t"/>
          <a:lstStyle/>
          <a:p>
            <a:pPr indent="0" marL="0">
              <a:lnSpc>
                <a:spcPct val="112000"/>
              </a:lnSpc>
              <a:buNone/>
            </a:pPr>
            <a:r>
              <a:rPr lang="en-US" sz="1300" dirty="0">
                <a:solidFill>
                  <a:srgbClr val="6B7A8F"/>
                </a:solidFill>
                <a:latin typeface="Calibri" pitchFamily="34" charset="0"/>
                <a:ea typeface="Calibri" pitchFamily="34" charset="-122"/>
                <a:cs typeface="Calibri" pitchFamily="34" charset="-120"/>
              </a:rPr>
              <a:t>Why a ratio, not a flat minimum: /careers rendered 2,090 characters of plain text via fetch() — plenty by a flat count — yet none of it was the Core Values. Length alone can't tell “short page” from “right content, wrong section.”</a:t>
            </a:r>
            <a:endParaRPr lang="en-US" sz="1300" dirty="0"/>
          </a:p>
        </p:txBody>
      </p:sp>
      <p:sp>
        <p:nvSpPr>
          <p:cNvPr id="20" name="Text 17"/>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21" name="Text 18"/>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ISSUES 7 – 8</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Two Ways to Chase a Ghost</a:t>
            </a:r>
            <a:endParaRPr lang="en-US" sz="3000" dirty="0"/>
          </a:p>
        </p:txBody>
      </p:sp>
      <p:sp>
        <p:nvSpPr>
          <p:cNvPr id="6" name="Shape 3"/>
          <p:cNvSpPr/>
          <p:nvPr/>
        </p:nvSpPr>
        <p:spPr>
          <a:xfrm>
            <a:off x="640080" y="1828800"/>
            <a:ext cx="5166360" cy="3429000"/>
          </a:xfrm>
          <a:prstGeom prst="roundRect">
            <a:avLst>
              <a:gd name="adj" fmla="val 2400"/>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29968"/>
            <a:ext cx="36576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THE STALE DEPLOY</a:t>
            </a:r>
            <a:endParaRPr lang="en-US" sz="1100" dirty="0"/>
          </a:p>
        </p:txBody>
      </p:sp>
      <p:sp>
        <p:nvSpPr>
          <p:cNvPr id="8" name="Text 5"/>
          <p:cNvSpPr txBox="1"/>
          <p:nvPr/>
        </p:nvSpPr>
        <p:spPr>
          <a:xfrm>
            <a:off x="914400" y="2377440"/>
            <a:ext cx="4617720" cy="2697480"/>
          </a:xfrm>
          <a:prstGeom prst="rect">
            <a:avLst/>
          </a:prstGeom>
          <a:noFill/>
          <a:ln/>
        </p:spPr>
        <p:txBody>
          <a:bodyPr wrap="square" lIns="0" tIns="0" rIns="0" bIns="0" rtlCol="0" anchor="t"/>
          <a:lstStyle/>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/careers vanished from sourcePages entirely.</a:t>
            </a:r>
            <a:endParaRPr lang="en-US" sz="1250" dirty="0"/>
          </a:p>
          <a:p>
            <a:pPr indent="0" marL="0">
              <a:lnSpc>
                <a:spcPct val="112000"/>
              </a:lnSpc>
              <a:buNone/>
            </a:pPr>
            <a:endParaRPr lang="en-US" sz="1250" dirty="0"/>
          </a:p>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An invalid [[rules]] block had crept into wrangler.toml — likely from an edit made in the Cloudflare dashboard's own editor — and was silently failing wrangler deploy. The live Worker was running stale code the whole time.</a:t>
            </a:r>
            <a:endParaRPr lang="en-US" sz="1250" dirty="0"/>
          </a:p>
          <a:p>
            <a:pPr indent="0" marL="0">
              <a:lnSpc>
                <a:spcPct val="112000"/>
              </a:lnSpc>
              <a:buNone/>
            </a:pPr>
            <a:endParaRPr lang="en-US" sz="1250" dirty="0"/>
          </a:p>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Found via git diff, not logs.</a:t>
            </a:r>
            <a:endParaRPr lang="en-US" sz="1250" dirty="0"/>
          </a:p>
        </p:txBody>
      </p:sp>
      <p:sp>
        <p:nvSpPr>
          <p:cNvPr id="9" name="Shape 6"/>
          <p:cNvSpPr/>
          <p:nvPr/>
        </p:nvSpPr>
        <p:spPr>
          <a:xfrm>
            <a:off x="6172200" y="1828800"/>
            <a:ext cx="5166360" cy="3429000"/>
          </a:xfrm>
          <a:prstGeom prst="roundRect">
            <a:avLst>
              <a:gd name="adj" fmla="val 2400"/>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6446520" y="2029968"/>
            <a:ext cx="36576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THE UNSET CREDENTIAL</a:t>
            </a:r>
            <a:endParaRPr lang="en-US" sz="1100" dirty="0"/>
          </a:p>
        </p:txBody>
      </p:sp>
      <p:sp>
        <p:nvSpPr>
          <p:cNvPr id="11" name="Text 8"/>
          <p:cNvSpPr txBox="1"/>
          <p:nvPr/>
        </p:nvSpPr>
        <p:spPr>
          <a:xfrm>
            <a:off x="6446520" y="2377440"/>
            <a:ext cx="4617720" cy="2697480"/>
          </a:xfrm>
          <a:prstGeom prst="rect">
            <a:avLst/>
          </a:prstGeom>
          <a:noFill/>
          <a:ln/>
        </p:spPr>
        <p:txBody>
          <a:bodyPr wrap="square" lIns="0" tIns="0" rIns="0" bIns="0" rtlCol="0" anchor="t"/>
          <a:lstStyle/>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/careers came back — but with the homepage's values, not its own.</a:t>
            </a:r>
            <a:endParaRPr lang="en-US" sz="1250" dirty="0"/>
          </a:p>
          <a:p>
            <a:pPr indent="0" marL="0">
              <a:lnSpc>
                <a:spcPct val="112000"/>
              </a:lnSpc>
              <a:buNone/>
            </a:pPr>
            <a:endParaRPr lang="en-US" sz="1250" dirty="0"/>
          </a:p>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CLOUDFLARE_ACCOUNT_ID was still commented out in wrangler.toml, so Browser Rendering never once engaged, despite being fully implemented.</a:t>
            </a:r>
            <a:endParaRPr lang="en-US" sz="1250" dirty="0"/>
          </a:p>
          <a:p>
            <a:pPr indent="0" marL="0">
              <a:lnSpc>
                <a:spcPct val="112000"/>
              </a:lnSpc>
              <a:buNone/>
            </a:pPr>
            <a:endParaRPr lang="en-US" sz="1250" dirty="0"/>
          </a:p>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Found via wrangler tail — a warning logged for every single page.</a:t>
            </a:r>
            <a:endParaRPr lang="en-US" sz="1250" dirty="0"/>
          </a:p>
        </p:txBody>
      </p:sp>
      <p:sp>
        <p:nvSpPr>
          <p:cNvPr id="12" name="Shape 9"/>
          <p:cNvSpPr/>
          <p:nvPr/>
        </p:nvSpPr>
        <p:spPr>
          <a:xfrm>
            <a:off x="640080" y="5440680"/>
            <a:ext cx="10698480" cy="594360"/>
          </a:xfrm>
          <a:prstGeom prst="roundRect">
            <a:avLst>
              <a:gd name="adj" fmla="val 13846"/>
            </a:avLst>
          </a:prstGeom>
          <a:solidFill>
            <a:srgbClr val="FDEEE0"/>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5440680"/>
            <a:ext cx="10149840" cy="594360"/>
          </a:xfrm>
          <a:prstGeom prst="rect">
            <a:avLst/>
          </a:prstGeom>
          <a:noFill/>
          <a:ln/>
        </p:spPr>
        <p:txBody>
          <a:bodyPr wrap="square" lIns="0" tIns="0" rIns="0" bIns="0" rtlCol="0" anchor="ctr"/>
          <a:lstStyle/>
          <a:p>
            <a:pPr indent="0" marL="0">
              <a:buNone/>
            </a:pPr>
            <a:r>
              <a:rPr lang="en-US" sz="1300" b="1" i="1" dirty="0">
                <a:solidFill>
                  <a:srgbClr val="1B2A4A"/>
                </a:solidFill>
                <a:latin typeface="Calibri" pitchFamily="34" charset="0"/>
                <a:ea typeface="Calibri" pitchFamily="34" charset="-122"/>
                <a:cs typeface="Calibri" pitchFamily="34" charset="-120"/>
              </a:rPr>
              <a:t>Being present in the response doesn't mean it worked — added skippedPages, pageStats, and real logging to make failures visible.</a:t>
            </a:r>
            <a:endParaRPr lang="en-US" sz="1300" dirty="0"/>
          </a:p>
        </p:txBody>
      </p:sp>
      <p:sp>
        <p:nvSpPr>
          <p:cNvPr id="14" name="Text 11"/>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5" name="Text 12"/>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9</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/json vs. /markdown</a:t>
            </a:r>
            <a:endParaRPr lang="en-US" sz="3000" dirty="0"/>
          </a:p>
        </p:txBody>
      </p:sp>
      <p:sp>
        <p:nvSpPr>
          <p:cNvPr id="6" name="Shape 3"/>
          <p:cNvSpPr/>
          <p:nvPr/>
        </p:nvSpPr>
        <p:spPr>
          <a:xfrm>
            <a:off x="640080" y="1874520"/>
            <a:ext cx="5166360" cy="3520440"/>
          </a:xfrm>
          <a:prstGeom prst="roundRect">
            <a:avLst>
              <a:gd name="adj" fmla="val 2338"/>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75688"/>
            <a:ext cx="4617720" cy="457200"/>
          </a:xfrm>
          <a:prstGeom prst="rect">
            <a:avLst/>
          </a:prstGeom>
          <a:noFill/>
          <a:ln/>
        </p:spPr>
        <p:txBody>
          <a:bodyPr wrap="square" lIns="0" tIns="0" rIns="0" bIns="0" rtlCol="0" anchor="ctr"/>
          <a:lstStyle/>
          <a:p>
            <a:pPr indent="0" marL="0">
              <a:buNone/>
            </a:pPr>
            <a:r>
              <a:rPr lang="en-US" sz="2000" b="1" dirty="0">
                <a:solidFill>
                  <a:srgbClr val="6B7A8F"/>
                </a:solidFill>
                <a:latin typeface="Courier New" pitchFamily="34" charset="0"/>
                <a:ea typeface="Courier New" pitchFamily="34" charset="-122"/>
                <a:cs typeface="Courier New" pitchFamily="34" charset="-120"/>
              </a:rPr>
              <a:t>/json</a:t>
            </a:r>
            <a:endParaRPr lang="en-US" sz="2000" dirty="0"/>
          </a:p>
        </p:txBody>
      </p:sp>
      <p:sp>
        <p:nvSpPr>
          <p:cNvPr id="8" name="Text 5"/>
          <p:cNvSpPr txBox="1"/>
          <p:nvPr/>
        </p:nvSpPr>
        <p:spPr>
          <a:xfrm>
            <a:off x="914400" y="2651760"/>
            <a:ext cx="4617720" cy="2514600"/>
          </a:xfrm>
          <a:prstGeom prst="rect">
            <a:avLst/>
          </a:prstGeom>
          <a:noFill/>
          <a:ln/>
        </p:spPr>
        <p:txBody>
          <a:bodyPr wrap="square" lIns="0" tIns="0" rIns="0" bIns="0" rtlCol="0" anchor="t"/>
          <a:lstStyle/>
          <a:p>
            <a:pPr indent="0" marL="0">
              <a:lnSpc>
                <a:spcPct val="112000"/>
              </a:lnSpc>
              <a:buNone/>
            </a:pPr>
            <a:r>
              <a:rPr lang="en-US" sz="1250" dirty="0">
                <a:solidFill>
                  <a:srgbClr val="6B7A8F"/>
                </a:solidFill>
                <a:latin typeface="Calibri" pitchFamily="34" charset="0"/>
                <a:ea typeface="Calibri" pitchFamily="34" charset="-122"/>
                <a:cs typeface="Calibri" pitchFamily="34" charset="-120"/>
              </a:rPr>
              <a:t>Renders the page, then asks an AI model to extract data into a JSON field.</a:t>
            </a:r>
            <a:endParaRPr lang="en-US" sz="1250" dirty="0"/>
          </a:p>
          <a:p>
            <a:pPr indent="0" marL="0">
              <a:lnSpc>
                <a:spcPct val="112000"/>
              </a:lnSpc>
              <a:buNone/>
            </a:pPr>
            <a:endParaRPr lang="en-US" sz="1250" dirty="0"/>
          </a:p>
          <a:p>
            <a:pPr indent="0" marL="0">
              <a:lnSpc>
                <a:spcPct val="112000"/>
              </a:lnSpc>
              <a:buNone/>
            </a:pPr>
            <a:r>
              <a:rPr lang="en-US" sz="1250" dirty="0">
                <a:solidFill>
                  <a:srgbClr val="6B7A8F"/>
                </a:solidFill>
                <a:latin typeface="Calibri" pitchFamily="34" charset="0"/>
                <a:ea typeface="Calibri" pitchFamily="34" charset="-122"/>
                <a:cs typeface="Calibri" pitchFamily="34" charset="-120"/>
              </a:rPr>
              <a:t>Asking it to return an entire page's worth of text meant escaping several KB of quotes, brackets, and markdown into one valid JSON string — and it reliably failed.</a:t>
            </a:r>
            <a:endParaRPr lang="en-US" sz="1250" dirty="0"/>
          </a:p>
          <a:p>
            <a:pPr indent="0" marL="0">
              <a:lnSpc>
                <a:spcPct val="112000"/>
              </a:lnSpc>
              <a:buNone/>
            </a:pPr>
            <a:endParaRPr lang="en-US" sz="1250" dirty="0"/>
          </a:p>
          <a:p>
            <a:pPr indent="0" marL="0">
              <a:lnSpc>
                <a:spcPct val="112000"/>
              </a:lnSpc>
              <a:buNone/>
            </a:pPr>
            <a:r>
              <a:rPr lang="en-US" sz="1250" dirty="0">
                <a:solidFill>
                  <a:srgbClr val="6B7A8F"/>
                </a:solidFill>
                <a:latin typeface="Calibri" pitchFamily="34" charset="0"/>
                <a:ea typeface="Calibri" pitchFamily="34" charset="-122"/>
                <a:cs typeface="Calibri" pitchFamily="34" charset="-120"/>
              </a:rPr>
              <a:t>Result: HTTP 422 on every real page tried, even with a response_format schema supplied.</a:t>
            </a:r>
            <a:endParaRPr lang="en-US" sz="1250" dirty="0"/>
          </a:p>
        </p:txBody>
      </p:sp>
      <p:sp>
        <p:nvSpPr>
          <p:cNvPr id="9" name="Shape 6"/>
          <p:cNvSpPr/>
          <p:nvPr/>
        </p:nvSpPr>
        <p:spPr>
          <a:xfrm>
            <a:off x="6172200" y="1874520"/>
            <a:ext cx="5166360" cy="3520440"/>
          </a:xfrm>
          <a:prstGeom prst="roundRect">
            <a:avLst>
              <a:gd name="adj" fmla="val 2338"/>
            </a:avLst>
          </a:prstGeom>
          <a:solidFill>
            <a:srgbClr val="1B2A4A"/>
          </a:solidFill>
          <a:ln/>
          <a:effectLst>
            <a:outerShdw sx="100000" sy="100000" kx="0" ky="0" algn="bl" rotWithShape="0" blurRad="76200" dist="25400" dir="5400000">
              <a:srgbClr val="1B2A4A">
                <a:alpha val="18000"/>
              </a:srgbClr>
            </a:outerShdw>
          </a:effectLst>
        </p:spPr>
      </p:sp>
      <p:sp>
        <p:nvSpPr>
          <p:cNvPr id="10" name="Text 7"/>
          <p:cNvSpPr txBox="1"/>
          <p:nvPr/>
        </p:nvSpPr>
        <p:spPr>
          <a:xfrm>
            <a:off x="6446520" y="2075688"/>
            <a:ext cx="3794760" cy="457200"/>
          </a:xfrm>
          <a:prstGeom prst="rect">
            <a:avLst/>
          </a:prstGeom>
          <a:noFill/>
          <a:ln/>
        </p:spPr>
        <p:txBody>
          <a:bodyPr wrap="square" lIns="0" tIns="0" rIns="0" bIns="0" rtlCol="0" anchor="ctr"/>
          <a:lstStyle/>
          <a:p>
            <a:pPr indent="0" marL="0">
              <a:buNone/>
            </a:pPr>
            <a:r>
              <a:rPr lang="en-US" sz="2000" b="1" dirty="0">
                <a:solidFill>
                  <a:srgbClr val="F38020"/>
                </a:solidFill>
                <a:latin typeface="Courier New" pitchFamily="34" charset="0"/>
                <a:ea typeface="Courier New" pitchFamily="34" charset="-122"/>
                <a:cs typeface="Courier New" pitchFamily="34" charset="-120"/>
              </a:rPr>
              <a:t>/markdown</a:t>
            </a:r>
            <a:endParaRPr lang="en-US" sz="2000" dirty="0"/>
          </a:p>
        </p:txBody>
      </p:sp>
      <p:sp>
        <p:nvSpPr>
          <p:cNvPr id="11" name="Shape 8"/>
          <p:cNvSpPr/>
          <p:nvPr/>
        </p:nvSpPr>
        <p:spPr>
          <a:xfrm>
            <a:off x="9921240" y="2130552"/>
            <a:ext cx="1143000" cy="347472"/>
          </a:xfrm>
          <a:prstGeom prst="roundRect">
            <a:avLst>
              <a:gd name="adj" fmla="val 50000"/>
            </a:avLst>
          </a:prstGeom>
          <a:solidFill>
            <a:srgbClr val="F38020"/>
          </a:solidFill>
          <a:ln/>
        </p:spPr>
      </p:sp>
      <p:sp>
        <p:nvSpPr>
          <p:cNvPr id="12" name="Text 9"/>
          <p:cNvSpPr txBox="1"/>
          <p:nvPr/>
        </p:nvSpPr>
        <p:spPr>
          <a:xfrm>
            <a:off x="9921240" y="2130552"/>
            <a:ext cx="1143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p>
        </p:txBody>
      </p:sp>
      <p:sp>
        <p:nvSpPr>
          <p:cNvPr id="13" name="Text 10"/>
          <p:cNvSpPr txBox="1"/>
          <p:nvPr/>
        </p:nvSpPr>
        <p:spPr>
          <a:xfrm>
            <a:off x="6446520" y="2651760"/>
            <a:ext cx="4617720" cy="2514600"/>
          </a:xfrm>
          <a:prstGeom prst="rect">
            <a:avLst/>
          </a:prstGeom>
          <a:noFill/>
          <a:ln/>
        </p:spPr>
        <p:txBody>
          <a:bodyPr wrap="square" lIns="0" tIns="0" rIns="0" bIns="0" rtlCol="0" anchor="t"/>
          <a:lstStyle/>
          <a:p>
            <a:pPr indent="0" marL="0">
              <a:lnSpc>
                <a:spcPct val="112000"/>
              </a:lnSpc>
              <a:buNone/>
            </a:pPr>
            <a:r>
              <a:rPr lang="en-US" sz="1250" dirty="0">
                <a:solidFill>
                  <a:srgbClr val="EAF0F6"/>
                </a:solidFill>
                <a:latin typeface="Calibri" pitchFamily="34" charset="0"/>
                <a:ea typeface="Calibri" pitchFamily="34" charset="-122"/>
                <a:cs typeface="Calibri" pitchFamily="34" charset="-120"/>
              </a:rPr>
              <a:t>Same real-browser rendering, but a mechanical HTML-to-markdown conversion — no AI step, so there's no JSON-escaping failure mode to hit.</a:t>
            </a:r>
            <a:endParaRPr lang="en-US" sz="1250" dirty="0"/>
          </a:p>
          <a:p>
            <a:pPr indent="0" marL="0">
              <a:lnSpc>
                <a:spcPct val="112000"/>
              </a:lnSpc>
              <a:buNone/>
            </a:pPr>
            <a:endParaRPr lang="en-US" sz="1250" dirty="0"/>
          </a:p>
          <a:p>
            <a:pPr indent="0" marL="0">
              <a:lnSpc>
                <a:spcPct val="112000"/>
              </a:lnSpc>
              <a:buNone/>
            </a:pPr>
            <a:r>
              <a:rPr lang="en-US" sz="1250" dirty="0">
                <a:solidFill>
                  <a:srgbClr val="EAF0F6"/>
                </a:solidFill>
                <a:latin typeface="Calibri" pitchFamily="34" charset="0"/>
                <a:ea typeface="Calibri" pitchFamily="34" charset="-122"/>
                <a:cs typeface="Calibri" pitchFamily="34" charset="-120"/>
              </a:rPr>
              <a:t>Reserve /json for small, well-defined field extractions. Use /markdown when the goal is simply “give me this page's real text.”</a:t>
            </a:r>
            <a:endParaRPr lang="en-US" sz="1250" dirty="0"/>
          </a:p>
        </p:txBody>
      </p:sp>
      <p:sp>
        <p:nvSpPr>
          <p:cNvPr id="14" name="Text 11"/>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5" name="Text 12"/>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ISSUES 10 – 11</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Nine 404s, One Homepage in Disguise</a:t>
            </a:r>
            <a:endParaRPr lang="en-US" sz="3000" dirty="0"/>
          </a:p>
        </p:txBody>
      </p:sp>
      <p:sp>
        <p:nvSpPr>
          <p:cNvPr id="6" name="Shape 3"/>
          <p:cNvSpPr/>
          <p:nvPr/>
        </p:nvSpPr>
        <p:spPr>
          <a:xfrm>
            <a:off x="640080" y="1874520"/>
            <a:ext cx="10908792" cy="777240"/>
          </a:xfrm>
          <a:prstGeom prst="roundRect">
            <a:avLst>
              <a:gd name="adj" fmla="val 10588"/>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39112"/>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SYMPTOM</a:t>
            </a:r>
            <a:endParaRPr lang="en-US" sz="1100" dirty="0"/>
          </a:p>
        </p:txBody>
      </p:sp>
      <p:sp>
        <p:nvSpPr>
          <p:cNvPr id="8" name="Text 5"/>
          <p:cNvSpPr txBox="1"/>
          <p:nvPr/>
        </p:nvSpPr>
        <p:spPr>
          <a:xfrm>
            <a:off x="914400" y="2313432"/>
            <a:ext cx="10332720" cy="228600"/>
          </a:xfrm>
          <a:prstGeom prst="rect">
            <a:avLst/>
          </a:prstGeom>
          <a:noFill/>
          <a:ln/>
        </p:spPr>
        <p:txBody>
          <a:bodyPr wrap="square" lIns="0" tIns="0" rIns="0" bIns="0" rtlCol="0" anchor="t"/>
          <a:lstStyle/>
          <a:p>
            <a:pPr indent="0" marL="0">
              <a:lnSpc>
                <a:spcPct val="112000"/>
              </a:lnSpc>
              <a:buNone/>
            </a:pPr>
            <a:r>
              <a:rPr lang="en-US" sz="1300" dirty="0">
                <a:solidFill>
                  <a:srgbClr val="1B2A4A"/>
                </a:solidFill>
                <a:latin typeface="Calibri" pitchFamily="34" charset="0"/>
                <a:ea typeface="Calibri" pitchFamily="34" charset="-122"/>
                <a:cs typeface="Calibri" pitchFamily="34" charset="-120"/>
              </a:rPr>
              <a:t>Browser Rendering succeeded for /careers — and for every one of nine nonexistent candidate paths. Values were still from the homepage.</a:t>
            </a:r>
            <a:endParaRPr lang="en-US" sz="1300" dirty="0"/>
          </a:p>
        </p:txBody>
      </p:sp>
      <p:sp>
        <p:nvSpPr>
          <p:cNvPr id="9" name="Shape 6"/>
          <p:cNvSpPr/>
          <p:nvPr/>
        </p:nvSpPr>
        <p:spPr>
          <a:xfrm>
            <a:off x="640080" y="2779776"/>
            <a:ext cx="10908792" cy="1600200"/>
          </a:xfrm>
          <a:prstGeom prst="roundRect">
            <a:avLst>
              <a:gd name="adj" fmla="val 5143"/>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914400" y="2944368"/>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ROOT CAUSE</a:t>
            </a:r>
            <a:endParaRPr lang="en-US" sz="1100" dirty="0"/>
          </a:p>
        </p:txBody>
      </p:sp>
      <p:sp>
        <p:nvSpPr>
          <p:cNvPr id="11" name="Text 8"/>
          <p:cNvSpPr txBox="1"/>
          <p:nvPr/>
        </p:nvSpPr>
        <p:spPr>
          <a:xfrm>
            <a:off x="914400" y="3218688"/>
            <a:ext cx="10332720" cy="1051560"/>
          </a:xfrm>
          <a:prstGeom prst="rect">
            <a:avLst/>
          </a:prstGeom>
          <a:noFill/>
          <a:ln/>
        </p:spPr>
        <p:txBody>
          <a:bodyPr wrap="square" lIns="0" tIns="0" rIns="0" bIns="0" rtlCol="0" anchor="t"/>
          <a:lstStyle/>
          <a:p>
            <a:pPr indent="0" marL="0">
              <a:lnSpc>
                <a:spcPct val="112000"/>
              </a:lnSpc>
              <a:buNone/>
            </a:pPr>
            <a:r>
              <a:rPr lang="en-US" sz="1300" dirty="0">
                <a:solidFill>
                  <a:srgbClr val="1B2A4A"/>
                </a:solidFill>
                <a:latin typeface="Calibri" pitchFamily="34" charset="0"/>
                <a:ea typeface="Calibri" pitchFamily="34" charset="-122"/>
                <a:cs typeface="Calibri" pitchFamily="34" charset="-120"/>
              </a:rPr>
              <a:t>A plain fetch() correctly got real 404s for those fake paths. But Browser Rendering navigates like an actual browser — and the SPA's client-side router served the homepage (200) to every one of those full-page navigations. Nine “successful” renders, all silent duplicates of the homepage, drowned out /careers's one real, unique contribution.</a:t>
            </a:r>
            <a:endParaRPr lang="en-US" sz="1300" dirty="0"/>
          </a:p>
        </p:txBody>
      </p:sp>
      <p:sp>
        <p:nvSpPr>
          <p:cNvPr id="12" name="Shape 9"/>
          <p:cNvSpPr/>
          <p:nvPr/>
        </p:nvSpPr>
        <p:spPr>
          <a:xfrm>
            <a:off x="640080" y="4507992"/>
            <a:ext cx="10908792" cy="1051560"/>
          </a:xfrm>
          <a:prstGeom prst="roundRect">
            <a:avLst>
              <a:gd name="adj" fmla="val 7826"/>
            </a:avLst>
          </a:prstGeom>
          <a:solidFill>
            <a:srgbClr val="F4F7FA"/>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4672584"/>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FIX</a:t>
            </a:r>
            <a:endParaRPr lang="en-US" sz="1100" dirty="0"/>
          </a:p>
        </p:txBody>
      </p:sp>
      <p:sp>
        <p:nvSpPr>
          <p:cNvPr id="14" name="Text 11"/>
          <p:cNvSpPr txBox="1"/>
          <p:nvPr/>
        </p:nvSpPr>
        <p:spPr>
          <a:xfrm>
            <a:off x="914400" y="4946904"/>
            <a:ext cx="10332720" cy="502920"/>
          </a:xfrm>
          <a:prstGeom prst="rect">
            <a:avLst/>
          </a:prstGeom>
          <a:noFill/>
          <a:ln/>
        </p:spPr>
        <p:txBody>
          <a:bodyPr wrap="square" lIns="0" tIns="0" rIns="0" bIns="0" rtlCol="0" anchor="t"/>
          <a:lstStyle/>
          <a:p>
            <a:pPr indent="0" marL="0">
              <a:lnSpc>
                <a:spcPct val="112000"/>
              </a:lnSpc>
              <a:buNone/>
            </a:pPr>
            <a:r>
              <a:rPr lang="en-US" sz="1300" dirty="0">
                <a:solidFill>
                  <a:srgbClr val="1B2A4A"/>
                </a:solidFill>
                <a:latin typeface="Calibri" pitchFamily="34" charset="0"/>
                <a:ea typeface="Calibri" pitchFamily="34" charset="-122"/>
                <a:cs typeface="Calibri" pitchFamily="34" charset="-120"/>
              </a:rPr>
              <a:t>Skip the render fallback entirely when the plain fetch already got a confirmed non-2xx status — trust it, don't try to “rescue” it. (Along the way, also fixed a runtime “stalled response” warning by properly canceling unread 404 response bodies.)</a:t>
            </a:r>
            <a:endParaRPr lang="en-US" sz="1300" dirty="0"/>
          </a:p>
        </p:txBody>
      </p:sp>
      <p:sp>
        <p:nvSpPr>
          <p:cNvPr id="15" name="Text 12"/>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6" name="Text 13"/>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12</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Config That Kept Un-Fixing Itself</a:t>
            </a:r>
            <a:endParaRPr lang="en-US" sz="3000" dirty="0"/>
          </a:p>
        </p:txBody>
      </p:sp>
      <p:sp>
        <p:nvSpPr>
          <p:cNvPr id="6" name="Shape 3"/>
          <p:cNvSpPr/>
          <p:nvPr/>
        </p:nvSpPr>
        <p:spPr>
          <a:xfrm>
            <a:off x="640080" y="1874520"/>
            <a:ext cx="10908792" cy="685800"/>
          </a:xfrm>
          <a:prstGeom prst="roundRect">
            <a:avLst>
              <a:gd name="adj" fmla="val 12000"/>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39112"/>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SYMPTOM</a:t>
            </a:r>
            <a:endParaRPr lang="en-US" sz="1100" dirty="0"/>
          </a:p>
        </p:txBody>
      </p:sp>
      <p:sp>
        <p:nvSpPr>
          <p:cNvPr id="8" name="Text 5"/>
          <p:cNvSpPr txBox="1"/>
          <p:nvPr/>
        </p:nvSpPr>
        <p:spPr>
          <a:xfrm>
            <a:off x="914400" y="2313432"/>
            <a:ext cx="10332720" cy="13716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Days after being fixed and confirmed working, CLOUDFLARE_ACCOUNT_ID was unset again — twice.</a:t>
            </a:r>
            <a:endParaRPr lang="en-US" sz="1350" dirty="0"/>
          </a:p>
        </p:txBody>
      </p:sp>
      <p:sp>
        <p:nvSpPr>
          <p:cNvPr id="9" name="Shape 6"/>
          <p:cNvSpPr/>
          <p:nvPr/>
        </p:nvSpPr>
        <p:spPr>
          <a:xfrm>
            <a:off x="640080" y="2706624"/>
            <a:ext cx="10908792" cy="1051560"/>
          </a:xfrm>
          <a:prstGeom prst="roundRect">
            <a:avLst>
              <a:gd name="adj" fmla="val 7826"/>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914400" y="2871216"/>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ROOT CAUSE</a:t>
            </a:r>
            <a:endParaRPr lang="en-US" sz="1100" dirty="0"/>
          </a:p>
        </p:txBody>
      </p:sp>
      <p:sp>
        <p:nvSpPr>
          <p:cNvPr id="11" name="Text 8"/>
          <p:cNvSpPr txBox="1"/>
          <p:nvPr/>
        </p:nvSpPr>
        <p:spPr>
          <a:xfrm>
            <a:off x="914400" y="3145536"/>
            <a:ext cx="10332720" cy="50292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wrangler.toml was being hand-edited outside the normal deploy flow — confirmed via git diff showing uncommitted local changes each time, most likely from the Cloudflare dashboard's own file editor.</a:t>
            </a:r>
            <a:endParaRPr lang="en-US" sz="1350" dirty="0"/>
          </a:p>
        </p:txBody>
      </p:sp>
      <p:sp>
        <p:nvSpPr>
          <p:cNvPr id="12" name="Shape 9"/>
          <p:cNvSpPr/>
          <p:nvPr/>
        </p:nvSpPr>
        <p:spPr>
          <a:xfrm>
            <a:off x="640080" y="3904488"/>
            <a:ext cx="10908792" cy="1143000"/>
          </a:xfrm>
          <a:prstGeom prst="roundRect">
            <a:avLst>
              <a:gd name="adj" fmla="val 7200"/>
            </a:avLst>
          </a:prstGeom>
          <a:solidFill>
            <a:srgbClr val="F4F7FA"/>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4069080"/>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FIX &amp; RECOMMENDATION</a:t>
            </a:r>
            <a:endParaRPr lang="en-US" sz="1100" dirty="0"/>
          </a:p>
        </p:txBody>
      </p:sp>
      <p:sp>
        <p:nvSpPr>
          <p:cNvPr id="14" name="Text 11"/>
          <p:cNvSpPr txBox="1"/>
          <p:nvPr/>
        </p:nvSpPr>
        <p:spPr>
          <a:xfrm>
            <a:off x="914400" y="4343400"/>
            <a:ext cx="10332720" cy="594360"/>
          </a:xfrm>
          <a:prstGeom prst="rect">
            <a:avLst/>
          </a:prstGeom>
          <a:noFill/>
          <a:ln/>
        </p:spPr>
        <p:txBody>
          <a:bodyPr wrap="square" lIns="0" tIns="0" rIns="0" bIns="0" rtlCol="0" anchor="t"/>
          <a:lstStyle/>
          <a:p>
            <a:pPr indent="0" marL="0">
              <a:lnSpc>
                <a:spcPct val="112000"/>
              </a:lnSpc>
              <a:buNone/>
            </a:pPr>
            <a:r>
              <a:rPr lang="en-US" sz="1350" dirty="0">
                <a:solidFill>
                  <a:srgbClr val="1B2A4A"/>
                </a:solidFill>
                <a:latin typeface="Calibri" pitchFamily="34" charset="0"/>
                <a:ea typeface="Calibri" pitchFamily="34" charset="-122"/>
                <a:cs typeface="Calibri" pitchFamily="34" charset="-120"/>
              </a:rPr>
              <a:t>Re-set the value again, and flagged it as a process risk, not just a code bug: commit the working config for a clear change history, or move the account ID to a secret so no local file edit can silently unset it.</a:t>
            </a:r>
            <a:endParaRPr lang="en-US" sz="1350" dirty="0"/>
          </a:p>
        </p:txBody>
      </p:sp>
      <p:sp>
        <p:nvSpPr>
          <p:cNvPr id="15" name="Text 12"/>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6" name="Text 13"/>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ISSUE 13 — RESOLVED</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1,600 Characters Short of the Truth</a:t>
            </a:r>
            <a:endParaRPr lang="en-US" sz="3000" dirty="0"/>
          </a:p>
        </p:txBody>
      </p:sp>
      <p:sp>
        <p:nvSpPr>
          <p:cNvPr id="6" name="Text 3"/>
          <p:cNvSpPr txBox="1"/>
          <p:nvPr/>
        </p:nvSpPr>
        <p:spPr>
          <a:xfrm>
            <a:off x="640080" y="1783080"/>
            <a:ext cx="10881360" cy="548640"/>
          </a:xfrm>
          <a:prstGeom prst="rect">
            <a:avLst/>
          </a:prstGeom>
          <a:noFill/>
          <a:ln/>
        </p:spPr>
        <p:txBody>
          <a:bodyPr wrap="square" lIns="0" tIns="0" rIns="0" bIns="0" rtlCol="0" anchor="t"/>
          <a:lstStyle/>
          <a:p>
            <a:pPr indent="0" marL="0">
              <a:lnSpc>
                <a:spcPct val="112000"/>
              </a:lnSpc>
              <a:buNone/>
            </a:pPr>
            <a:r>
              <a:rPr lang="en-US" sz="1400" dirty="0">
                <a:solidFill>
                  <a:srgbClr val="6B7A8F"/>
                </a:solidFill>
                <a:latin typeface="Calibri" pitchFamily="34" charset="0"/>
                <a:ea typeface="Calibri" pitchFamily="34" charset="-122"/>
                <a:cs typeface="Calibri" pitchFamily="34" charset="-120"/>
              </a:rPr>
              <a:t>With the crawl finally clean, values were still wrong. The remaining cause: buildContext()'s per-page character budget was too small to reach the real content.</a:t>
            </a:r>
            <a:endParaRPr lang="en-US" sz="1400" dirty="0"/>
          </a:p>
        </p:txBody>
      </p:sp>
      <p:sp>
        <p:nvSpPr>
          <p:cNvPr id="7" name="Shape 4"/>
          <p:cNvSpPr/>
          <p:nvPr/>
        </p:nvSpPr>
        <p:spPr>
          <a:xfrm>
            <a:off x="640080" y="2468880"/>
            <a:ext cx="5166360" cy="2514600"/>
          </a:xfrm>
          <a:prstGeom prst="roundRect">
            <a:avLst>
              <a:gd name="adj" fmla="val 3273"/>
            </a:avLst>
          </a:prstGeom>
          <a:solidFill>
            <a:srgbClr val="F4F7FA"/>
          </a:solidFill>
          <a:ln/>
          <a:effectLst>
            <a:outerShdw sx="100000" sy="100000" kx="0" ky="0" algn="bl" rotWithShape="0" blurRad="76200" dist="25400" dir="5400000">
              <a:srgbClr val="1B2A4A">
                <a:alpha val="18000"/>
              </a:srgbClr>
            </a:outerShdw>
          </a:effectLst>
        </p:spPr>
      </p:sp>
      <p:sp>
        <p:nvSpPr>
          <p:cNvPr id="8" name="Text 5"/>
          <p:cNvSpPr txBox="1"/>
          <p:nvPr/>
        </p:nvSpPr>
        <p:spPr>
          <a:xfrm>
            <a:off x="914400" y="2651760"/>
            <a:ext cx="2743200" cy="256032"/>
          </a:xfrm>
          <a:prstGeom prst="rect">
            <a:avLst/>
          </a:prstGeom>
          <a:noFill/>
          <a:ln/>
        </p:spPr>
        <p:txBody>
          <a:bodyPr wrap="square" lIns="0" tIns="0" rIns="0" bIns="0" rtlCol="0" anchor="ctr"/>
          <a:lstStyle/>
          <a:p>
            <a:pPr indent="0" marL="0">
              <a:buNone/>
            </a:pPr>
            <a:r>
              <a:rPr lang="en-US" sz="1100" b="1" spc="150" kern="0" dirty="0">
                <a:solidFill>
                  <a:srgbClr val="6B7A8F"/>
                </a:solidFill>
                <a:latin typeface="Calibri" pitchFamily="34" charset="0"/>
                <a:ea typeface="Calibri" pitchFamily="34" charset="-122"/>
                <a:cs typeface="Calibri" pitchFamily="34" charset="-120"/>
              </a:rPr>
              <a:t>BEFORE</a:t>
            </a:r>
            <a:endParaRPr lang="en-US" sz="1100" dirty="0"/>
          </a:p>
        </p:txBody>
      </p:sp>
      <p:sp>
        <p:nvSpPr>
          <p:cNvPr id="9" name="Text 6"/>
          <p:cNvSpPr txBox="1"/>
          <p:nvPr/>
        </p:nvSpPr>
        <p:spPr>
          <a:xfrm>
            <a:off x="914400" y="3017520"/>
            <a:ext cx="4617720" cy="1783080"/>
          </a:xfrm>
          <a:prstGeom prst="rect">
            <a:avLst/>
          </a:prstGeom>
          <a:noFill/>
          <a:ln/>
        </p:spPr>
        <p:txBody>
          <a:bodyPr wrap="square" lIns="0" tIns="0" rIns="0" bIns="0" rtlCol="0" anchor="t"/>
          <a:lstStyle/>
          <a:p>
            <a:pPr indent="0" marL="0">
              <a:lnSpc>
                <a:spcPct val="112000"/>
              </a:lnSpc>
              <a:buNone/>
            </a:pPr>
            <a:r>
              <a:rPr lang="en-US" sz="1300" dirty="0">
                <a:solidFill>
                  <a:srgbClr val="6B7A8F"/>
                </a:solidFill>
                <a:latin typeface="Calibri" pitchFamily="34" charset="0"/>
                <a:ea typeface="Calibri" pitchFamily="34" charset="-122"/>
                <a:cs typeface="Calibri" pitchFamily="34" charset="-120"/>
              </a:rPr>
              <a:t>MAX_PAGE_CHARS: 8,000</a:t>
            </a:r>
            <a:endParaRPr lang="en-US" sz="1300" dirty="0"/>
          </a:p>
          <a:p>
            <a:pPr indent="0" marL="0">
              <a:lnSpc>
                <a:spcPct val="112000"/>
              </a:lnSpc>
              <a:buNone/>
            </a:pPr>
            <a:r>
              <a:rPr lang="en-US" sz="1300" dirty="0">
                <a:solidFill>
                  <a:srgbClr val="6B7A8F"/>
                </a:solidFill>
                <a:latin typeface="Calibri" pitchFamily="34" charset="0"/>
                <a:ea typeface="Calibri" pitchFamily="34" charset="-122"/>
                <a:cs typeface="Calibri" pitchFamily="34" charset="-120"/>
              </a:rPr>
              <a:t>Homepage share: 40%</a:t>
            </a:r>
            <a:endParaRPr lang="en-US" sz="1300" dirty="0"/>
          </a:p>
          <a:p>
            <a:pPr indent="0" marL="0">
              <a:lnSpc>
                <a:spcPct val="112000"/>
              </a:lnSpc>
              <a:buNone/>
            </a:pPr>
            <a:r>
              <a:rPr lang="en-US" sz="1300" dirty="0">
                <a:solidFill>
                  <a:srgbClr val="6B7A8F"/>
                </a:solidFill>
                <a:latin typeface="Calibri" pitchFamily="34" charset="0"/>
                <a:ea typeface="Calibri" pitchFamily="34" charset="-122"/>
                <a:cs typeface="Calibri" pitchFamily="34" charset="-120"/>
              </a:rPr>
              <a:t>/careers budget: 1,600 characters</a:t>
            </a:r>
            <a:endParaRPr lang="en-US" sz="1300" dirty="0"/>
          </a:p>
          <a:p>
            <a:pPr indent="0" marL="0">
              <a:lnSpc>
                <a:spcPct val="112000"/>
              </a:lnSpc>
              <a:buNone/>
            </a:pPr>
            <a:endParaRPr lang="en-US" sz="1300" dirty="0"/>
          </a:p>
          <a:p>
            <a:pPr indent="0" marL="0">
              <a:lnSpc>
                <a:spcPct val="112000"/>
              </a:lnSpc>
              <a:buNone/>
            </a:pPr>
            <a:r>
              <a:rPr lang="en-US" sz="1300" dirty="0">
                <a:solidFill>
                  <a:srgbClr val="6B7A8F"/>
                </a:solidFill>
                <a:latin typeface="Calibri" pitchFamily="34" charset="0"/>
                <a:ea typeface="Calibri" pitchFamily="34" charset="-122"/>
                <a:cs typeface="Calibri" pitchFamily="34" charset="-120"/>
              </a:rPr>
              <a:t>“Our Core Values” sits ~1,800+ characters into the rendered page — past the cutoff, before the AI ever saw it.</a:t>
            </a:r>
            <a:endParaRPr lang="en-US" sz="1300" dirty="0"/>
          </a:p>
        </p:txBody>
      </p:sp>
      <p:sp>
        <p:nvSpPr>
          <p:cNvPr id="10" name="Shape 7"/>
          <p:cNvSpPr/>
          <p:nvPr/>
        </p:nvSpPr>
        <p:spPr>
          <a:xfrm>
            <a:off x="6172200" y="2468880"/>
            <a:ext cx="5166360" cy="2514600"/>
          </a:xfrm>
          <a:prstGeom prst="roundRect">
            <a:avLst>
              <a:gd name="adj" fmla="val 3273"/>
            </a:avLst>
          </a:prstGeom>
          <a:solidFill>
            <a:srgbClr val="1B2A4A"/>
          </a:solidFill>
          <a:ln/>
          <a:effectLst>
            <a:outerShdw sx="100000" sy="100000" kx="0" ky="0" algn="bl" rotWithShape="0" blurRad="76200" dist="25400" dir="5400000">
              <a:srgbClr val="1B2A4A">
                <a:alpha val="18000"/>
              </a:srgbClr>
            </a:outerShdw>
          </a:effectLst>
        </p:spPr>
      </p:sp>
      <p:sp>
        <p:nvSpPr>
          <p:cNvPr id="11" name="Text 8"/>
          <p:cNvSpPr txBox="1"/>
          <p:nvPr/>
        </p:nvSpPr>
        <p:spPr>
          <a:xfrm>
            <a:off x="6446520" y="2651760"/>
            <a:ext cx="27432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AFTER</a:t>
            </a:r>
            <a:endParaRPr lang="en-US" sz="1100" dirty="0"/>
          </a:p>
        </p:txBody>
      </p:sp>
      <p:sp>
        <p:nvSpPr>
          <p:cNvPr id="12" name="Text 9"/>
          <p:cNvSpPr txBox="1"/>
          <p:nvPr/>
        </p:nvSpPr>
        <p:spPr>
          <a:xfrm>
            <a:off x="6446520" y="3017520"/>
            <a:ext cx="4617720" cy="1783080"/>
          </a:xfrm>
          <a:prstGeom prst="rect">
            <a:avLst/>
          </a:prstGeom>
          <a:noFill/>
          <a:ln/>
        </p:spPr>
        <p:txBody>
          <a:bodyPr wrap="square" lIns="0" tIns="0" rIns="0" bIns="0" rtlCol="0" anchor="t"/>
          <a:lstStyle/>
          <a:p>
            <a:pPr indent="0" marL="0">
              <a:lnSpc>
                <a:spcPct val="112000"/>
              </a:lnSpc>
              <a:buNone/>
            </a:pPr>
            <a:r>
              <a:rPr lang="en-US" sz="1300" dirty="0">
                <a:solidFill>
                  <a:srgbClr val="EAF0F6"/>
                </a:solidFill>
                <a:latin typeface="Calibri" pitchFamily="34" charset="0"/>
                <a:ea typeface="Calibri" pitchFamily="34" charset="-122"/>
                <a:cs typeface="Calibri" pitchFamily="34" charset="-120"/>
              </a:rPr>
              <a:t>MAX_PAGE_CHARS: 30,000</a:t>
            </a:r>
            <a:endParaRPr lang="en-US" sz="1300" dirty="0"/>
          </a:p>
          <a:p>
            <a:pPr indent="0" marL="0">
              <a:lnSpc>
                <a:spcPct val="112000"/>
              </a:lnSpc>
              <a:buNone/>
            </a:pPr>
            <a:r>
              <a:rPr lang="en-US" sz="1300" dirty="0">
                <a:solidFill>
                  <a:srgbClr val="EAF0F6"/>
                </a:solidFill>
                <a:latin typeface="Calibri" pitchFamily="34" charset="0"/>
                <a:ea typeface="Calibri" pitchFamily="34" charset="-122"/>
                <a:cs typeface="Calibri" pitchFamily="34" charset="-120"/>
              </a:rPr>
              <a:t>Homepage share: 25%</a:t>
            </a:r>
            <a:endParaRPr lang="en-US" sz="1300" dirty="0"/>
          </a:p>
          <a:p>
            <a:pPr indent="0" marL="0">
              <a:lnSpc>
                <a:spcPct val="112000"/>
              </a:lnSpc>
              <a:buNone/>
            </a:pPr>
            <a:r>
              <a:rPr lang="en-US" sz="1300" dirty="0">
                <a:solidFill>
                  <a:srgbClr val="EAF0F6"/>
                </a:solidFill>
                <a:latin typeface="Calibri" pitchFamily="34" charset="0"/>
                <a:ea typeface="Calibri" pitchFamily="34" charset="-122"/>
                <a:cs typeface="Calibri" pitchFamily="34" charset="-120"/>
              </a:rPr>
              <a:t>/careers budget: ~7,500 characters</a:t>
            </a:r>
            <a:endParaRPr lang="en-US" sz="1300" dirty="0"/>
          </a:p>
          <a:p>
            <a:pPr indent="0" marL="0">
              <a:lnSpc>
                <a:spcPct val="112000"/>
              </a:lnSpc>
              <a:buNone/>
            </a:pPr>
            <a:endParaRPr lang="en-US" sz="1300" dirty="0"/>
          </a:p>
          <a:p>
            <a:pPr indent="0" marL="0">
              <a:lnSpc>
                <a:spcPct val="112000"/>
              </a:lnSpc>
              <a:buNone/>
            </a:pPr>
            <a:r>
              <a:rPr lang="en-US" sz="1300" dirty="0">
                <a:solidFill>
                  <a:srgbClr val="EAF0F6"/>
                </a:solidFill>
                <a:latin typeface="Calibri" pitchFamily="34" charset="0"/>
                <a:ea typeface="Calibri" pitchFamily="34" charset="-122"/>
                <a:cs typeface="Calibri" pitchFamily="34" charset="-120"/>
              </a:rPr>
              <a:t>Comfortably past any nav overhead and into the actual values list.</a:t>
            </a:r>
            <a:endParaRPr lang="en-US" sz="1300" dirty="0"/>
          </a:p>
        </p:txBody>
      </p:sp>
      <p:sp>
        <p:nvSpPr>
          <p:cNvPr id="13" name="Shape 10"/>
          <p:cNvSpPr/>
          <p:nvPr/>
        </p:nvSpPr>
        <p:spPr>
          <a:xfrm>
            <a:off x="640080" y="5212080"/>
            <a:ext cx="10698480" cy="640080"/>
          </a:xfrm>
          <a:prstGeom prst="roundRect">
            <a:avLst>
              <a:gd name="adj" fmla="val 14286"/>
            </a:avLst>
          </a:prstGeom>
          <a:solidFill>
            <a:srgbClr val="FDEEE0"/>
          </a:solidFill>
          <a:ln/>
          <a:effectLst>
            <a:outerShdw sx="100000" sy="100000" kx="0" ky="0" algn="bl" rotWithShape="0" blurRad="76200" dist="25400" dir="5400000">
              <a:srgbClr val="1B2A4A">
                <a:alpha val="18000"/>
              </a:srgbClr>
            </a:outerShdw>
          </a:effectLst>
        </p:spPr>
      </p:sp>
      <p:pic>
        <p:nvPicPr>
          <p:cNvPr id="14" name="Image 1" descr="preencoded.png">    </p:cNvPr>
          <p:cNvPicPr>
            <a:picLocks noChangeAspect="1"/>
          </p:cNvPicPr>
          <p:nvPr/>
        </p:nvPicPr>
        <p:blipFill>
          <a:blip r:embed="rId2"/>
          <a:stretch>
            <a:fillRect/>
          </a:stretch>
        </p:blipFill>
        <p:spPr>
          <a:xfrm>
            <a:off x="868680" y="5349240"/>
            <a:ext cx="365760" cy="365760"/>
          </a:xfrm>
          <a:prstGeom prst="rect">
            <a:avLst/>
          </a:prstGeom>
        </p:spPr>
      </p:pic>
      <p:sp>
        <p:nvSpPr>
          <p:cNvPr id="15" name="Text 11"/>
          <p:cNvSpPr txBox="1"/>
          <p:nvPr/>
        </p:nvSpPr>
        <p:spPr>
          <a:xfrm>
            <a:off x="1417320" y="5212080"/>
            <a:ext cx="9326880" cy="64008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Confirmed working — the API now correctly returns leadingedje.com's real Core Values.</a:t>
            </a:r>
            <a:endParaRPr lang="en-US" sz="1400" dirty="0"/>
          </a:p>
        </p:txBody>
      </p:sp>
      <p:sp>
        <p:nvSpPr>
          <p:cNvPr id="16" name="Text 12"/>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7" name="Text 13"/>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END STATE</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Two-Tier Fetch Strategy</a:t>
            </a:r>
            <a:endParaRPr lang="en-US" sz="3000" dirty="0"/>
          </a:p>
        </p:txBody>
      </p:sp>
      <p:sp>
        <p:nvSpPr>
          <p:cNvPr id="6" name="Shape 3"/>
          <p:cNvSpPr/>
          <p:nvPr/>
        </p:nvSpPr>
        <p:spPr>
          <a:xfrm>
            <a:off x="640080" y="1965960"/>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7" name="Shape 4"/>
          <p:cNvSpPr/>
          <p:nvPr/>
        </p:nvSpPr>
        <p:spPr>
          <a:xfrm>
            <a:off x="841248" y="2194560"/>
            <a:ext cx="502920" cy="502920"/>
          </a:xfrm>
          <a:prstGeom prst="ellipse">
            <a:avLst/>
          </a:prstGeom>
          <a:solidFill>
            <a:srgbClr val="F38020"/>
          </a:solidFill>
          <a:ln/>
        </p:spPr>
      </p:sp>
      <p:sp>
        <p:nvSpPr>
          <p:cNvPr id="8" name="Text 5"/>
          <p:cNvSpPr txBox="1"/>
          <p:nvPr/>
        </p:nvSpPr>
        <p:spPr>
          <a:xfrm>
            <a:off x="841248"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554480" y="2075688"/>
            <a:ext cx="9692640" cy="38404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Plain fetch() every candidate page</a:t>
            </a:r>
            <a:endParaRPr lang="en-US" sz="1500" dirty="0"/>
          </a:p>
        </p:txBody>
      </p:sp>
      <p:sp>
        <p:nvSpPr>
          <p:cNvPr id="10" name="Text 7"/>
          <p:cNvSpPr txBox="1"/>
          <p:nvPr/>
        </p:nvSpPr>
        <p:spPr>
          <a:xfrm>
            <a:off x="1554480" y="2450592"/>
            <a:ext cx="9692640" cy="384048"/>
          </a:xfrm>
          <a:prstGeom prst="rect">
            <a:avLst/>
          </a:prstGeom>
          <a:noFill/>
          <a:ln/>
        </p:spPr>
        <p:txBody>
          <a:bodyPr wrap="square" lIns="0" tIns="0" rIns="0" bIns="0" rtlCol="0" anchor="ctr"/>
          <a:lstStyle/>
          <a:p>
            <a:pPr indent="0" marL="0">
              <a:buNone/>
            </a:pPr>
            <a:r>
              <a:rPr lang="en-US" sz="1200" dirty="0">
                <a:solidFill>
                  <a:srgbClr val="6B7A8F"/>
                </a:solidFill>
                <a:latin typeface="Calibri" pitchFamily="34" charset="0"/>
                <a:ea typeface="Calibri" pitchFamily="34" charset="-122"/>
                <a:cs typeface="Calibri" pitchFamily="34" charset="-120"/>
              </a:rPr>
              <a:t>Cheap and fast — the default for most pages</a:t>
            </a:r>
            <a:endParaRPr lang="en-US" sz="1200" dirty="0"/>
          </a:p>
        </p:txBody>
      </p:sp>
      <p:sp>
        <p:nvSpPr>
          <p:cNvPr id="11" name="Shape 8"/>
          <p:cNvSpPr/>
          <p:nvPr/>
        </p:nvSpPr>
        <p:spPr>
          <a:xfrm>
            <a:off x="640080" y="3035808"/>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12" name="Shape 9"/>
          <p:cNvSpPr/>
          <p:nvPr/>
        </p:nvSpPr>
        <p:spPr>
          <a:xfrm>
            <a:off x="841248" y="3264408"/>
            <a:ext cx="502920" cy="502920"/>
          </a:xfrm>
          <a:prstGeom prst="ellipse">
            <a:avLst/>
          </a:prstGeom>
          <a:solidFill>
            <a:srgbClr val="F38020"/>
          </a:solidFill>
          <a:ln/>
        </p:spPr>
      </p:sp>
      <p:sp>
        <p:nvSpPr>
          <p:cNvPr id="13" name="Text 10"/>
          <p:cNvSpPr txBox="1"/>
          <p:nvPr/>
        </p:nvSpPr>
        <p:spPr>
          <a:xfrm>
            <a:off x="841248" y="32644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1554480" y="3145536"/>
            <a:ext cx="9692640" cy="38404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Confirmed 404? Stop.</a:t>
            </a:r>
            <a:endParaRPr lang="en-US" sz="1500" dirty="0"/>
          </a:p>
        </p:txBody>
      </p:sp>
      <p:sp>
        <p:nvSpPr>
          <p:cNvPr id="15" name="Text 12"/>
          <p:cNvSpPr txBox="1"/>
          <p:nvPr/>
        </p:nvSpPr>
        <p:spPr>
          <a:xfrm>
            <a:off x="1554480" y="3520440"/>
            <a:ext cx="9692640" cy="384048"/>
          </a:xfrm>
          <a:prstGeom prst="rect">
            <a:avLst/>
          </a:prstGeom>
          <a:noFill/>
          <a:ln/>
        </p:spPr>
        <p:txBody>
          <a:bodyPr wrap="square" lIns="0" tIns="0" rIns="0" bIns="0" rtlCol="0" anchor="ctr"/>
          <a:lstStyle/>
          <a:p>
            <a:pPr indent="0" marL="0">
              <a:buNone/>
            </a:pPr>
            <a:r>
              <a:rPr lang="en-US" sz="1200" dirty="0">
                <a:solidFill>
                  <a:srgbClr val="6B7A8F"/>
                </a:solidFill>
                <a:latin typeface="Calibri" pitchFamily="34" charset="0"/>
                <a:ea typeface="Calibri" pitchFamily="34" charset="-122"/>
                <a:cs typeface="Calibri" pitchFamily="34" charset="-120"/>
              </a:rPr>
              <a:t>Trust the origin. Don't render a path it already rejected.</a:t>
            </a:r>
            <a:endParaRPr lang="en-US" sz="1200" dirty="0"/>
          </a:p>
        </p:txBody>
      </p:sp>
      <p:sp>
        <p:nvSpPr>
          <p:cNvPr id="16" name="Shape 13"/>
          <p:cNvSpPr/>
          <p:nvPr/>
        </p:nvSpPr>
        <p:spPr>
          <a:xfrm>
            <a:off x="640080" y="4105656"/>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17" name="Shape 14"/>
          <p:cNvSpPr/>
          <p:nvPr/>
        </p:nvSpPr>
        <p:spPr>
          <a:xfrm>
            <a:off x="841248" y="4334256"/>
            <a:ext cx="502920" cy="502920"/>
          </a:xfrm>
          <a:prstGeom prst="ellipse">
            <a:avLst/>
          </a:prstGeom>
          <a:solidFill>
            <a:srgbClr val="F38020"/>
          </a:solidFill>
          <a:ln/>
        </p:spPr>
      </p:sp>
      <p:sp>
        <p:nvSpPr>
          <p:cNvPr id="18" name="Text 15"/>
          <p:cNvSpPr txBox="1"/>
          <p:nvPr/>
        </p:nvSpPr>
        <p:spPr>
          <a:xfrm>
            <a:off x="841248" y="43342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txBox="1"/>
          <p:nvPr/>
        </p:nvSpPr>
        <p:spPr>
          <a:xfrm>
            <a:off x="1554480" y="4215384"/>
            <a:ext cx="9692640" cy="38404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2xx but looksThin()? Fall back to Browser Rendering /markdown</a:t>
            </a:r>
            <a:endParaRPr lang="en-US" sz="1500" dirty="0"/>
          </a:p>
        </p:txBody>
      </p:sp>
      <p:sp>
        <p:nvSpPr>
          <p:cNvPr id="20" name="Text 17"/>
          <p:cNvSpPr txBox="1"/>
          <p:nvPr/>
        </p:nvSpPr>
        <p:spPr>
          <a:xfrm>
            <a:off x="1554480" y="4590288"/>
            <a:ext cx="9692640" cy="384048"/>
          </a:xfrm>
          <a:prstGeom prst="rect">
            <a:avLst/>
          </a:prstGeom>
          <a:noFill/>
          <a:ln/>
        </p:spPr>
        <p:txBody>
          <a:bodyPr wrap="square" lIns="0" tIns="0" rIns="0" bIns="0" rtlCol="0" anchor="ctr"/>
          <a:lstStyle/>
          <a:p>
            <a:pPr indent="0" marL="0">
              <a:buNone/>
            </a:pPr>
            <a:r>
              <a:rPr lang="en-US" sz="1200" dirty="0">
                <a:solidFill>
                  <a:srgbClr val="6B7A8F"/>
                </a:solidFill>
                <a:latin typeface="Calibri" pitchFamily="34" charset="0"/>
                <a:ea typeface="Calibri" pitchFamily="34" charset="-122"/>
                <a:cs typeface="Calibri" pitchFamily="34" charset="-120"/>
              </a:rPr>
              <a:t>Ratio-based heuristic catches SPA shells a length check would miss</a:t>
            </a:r>
            <a:endParaRPr lang="en-US" sz="1200" dirty="0"/>
          </a:p>
        </p:txBody>
      </p:sp>
      <p:sp>
        <p:nvSpPr>
          <p:cNvPr id="21" name="Shape 18"/>
          <p:cNvSpPr/>
          <p:nvPr/>
        </p:nvSpPr>
        <p:spPr>
          <a:xfrm>
            <a:off x="640080" y="5175504"/>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22" name="Shape 19"/>
          <p:cNvSpPr/>
          <p:nvPr/>
        </p:nvSpPr>
        <p:spPr>
          <a:xfrm>
            <a:off x="841248" y="5404104"/>
            <a:ext cx="502920" cy="502920"/>
          </a:xfrm>
          <a:prstGeom prst="ellipse">
            <a:avLst/>
          </a:prstGeom>
          <a:solidFill>
            <a:srgbClr val="F38020"/>
          </a:solidFill>
          <a:ln/>
        </p:spPr>
      </p:sp>
      <p:sp>
        <p:nvSpPr>
          <p:cNvPr id="23" name="Text 20"/>
          <p:cNvSpPr txBox="1"/>
          <p:nvPr/>
        </p:nvSpPr>
        <p:spPr>
          <a:xfrm>
            <a:off x="841248" y="54041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txBox="1"/>
          <p:nvPr/>
        </p:nvSpPr>
        <p:spPr>
          <a:xfrm>
            <a:off x="1554480" y="5285232"/>
            <a:ext cx="9692640" cy="38404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Build weighted context (30,000 chars, homepage 25%) → Workers AI extraction</a:t>
            </a:r>
            <a:endParaRPr lang="en-US" sz="1500" dirty="0"/>
          </a:p>
        </p:txBody>
      </p:sp>
      <p:sp>
        <p:nvSpPr>
          <p:cNvPr id="25" name="Text 22"/>
          <p:cNvSpPr txBox="1"/>
          <p:nvPr/>
        </p:nvSpPr>
        <p:spPr>
          <a:xfrm>
            <a:off x="1554480" y="5660136"/>
            <a:ext cx="9692640" cy="384048"/>
          </a:xfrm>
          <a:prstGeom prst="rect">
            <a:avLst/>
          </a:prstGeom>
          <a:noFill/>
          <a:ln/>
        </p:spPr>
        <p:txBody>
          <a:bodyPr wrap="square" lIns="0" tIns="0" rIns="0" bIns="0" rtlCol="0" anchor="ctr"/>
          <a:lstStyle/>
          <a:p>
            <a:pPr indent="0" marL="0">
              <a:buNone/>
            </a:pPr>
            <a:r>
              <a:rPr lang="en-US" sz="1200" dirty="0">
                <a:solidFill>
                  <a:srgbClr val="6B7A8F"/>
                </a:solidFill>
                <a:latin typeface="Calibri" pitchFamily="34" charset="0"/>
                <a:ea typeface="Calibri" pitchFamily="34" charset="-122"/>
                <a:cs typeface="Calibri" pitchFamily="34" charset="-120"/>
              </a:rPr>
              <a:t>Every page gets enough budget to reach its real content</a:t>
            </a:r>
            <a:endParaRPr lang="en-US" sz="1200" dirty="0"/>
          </a:p>
        </p:txBody>
      </p:sp>
      <p:sp>
        <p:nvSpPr>
          <p:cNvPr id="26" name="Text 23"/>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27" name="Text 24"/>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DECISION 14 — POST-LAUNCH ENHANCEMENT</a:t>
            </a:r>
            <a:endParaRPr lang="en-US" sz="1300" dirty="0"/>
          </a:p>
        </p:txBody>
      </p:sp>
      <p:sp>
        <p:nvSpPr>
          <p:cNvPr id="3" name="Shape 1"/>
          <p:cNvSpPr/>
          <p:nvPr/>
        </p:nvSpPr>
        <p:spPr>
          <a:xfrm>
            <a:off x="640080" y="841248"/>
            <a:ext cx="658368" cy="658368"/>
          </a:xfrm>
          <a:prstGeom prst="ellipse">
            <a:avLst/>
          </a:prstGeom>
          <a:solidFill>
            <a:srgbClr val="F38020"/>
          </a:solidFill>
          <a:ln/>
          <a:effectLst>
            <a:outerShdw sx="100000" sy="100000" kx="0" ky="0" algn="bl" rotWithShape="0" blurRad="76200" dist="25400" dir="5400000">
              <a:srgbClr val="1B2A4A">
                <a:alpha val="18000"/>
              </a:srgbClr>
            </a:outerShdw>
          </a:effectLst>
        </p:spPr>
      </p:sp>
      <p:pic>
        <p:nvPicPr>
          <p:cNvPr id="4" name="Image 0" descr="preencoded.png">    </p:cNvPr>
          <p:cNvPicPr>
            <a:picLocks noChangeAspect="1"/>
          </p:cNvPicPr>
          <p:nvPr/>
        </p:nvPicPr>
        <p:blipFill>
          <a:blip r:embed="rId1"/>
          <a:stretch>
            <a:fillRect/>
          </a:stretch>
        </p:blipFill>
        <p:spPr>
          <a:xfrm>
            <a:off x="804672" y="1005840"/>
            <a:ext cx="329184" cy="329184"/>
          </a:xfrm>
          <a:prstGeom prst="rect">
            <a:avLst/>
          </a:prstGeom>
        </p:spPr>
      </p:pic>
      <p:sp>
        <p:nvSpPr>
          <p:cNvPr id="5" name="Text 2"/>
          <p:cNvSpPr txBox="1"/>
          <p:nvPr/>
        </p:nvSpPr>
        <p:spPr>
          <a:xfrm>
            <a:off x="1572768" y="786384"/>
            <a:ext cx="9326880" cy="7772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Don't Just Guess the Site Structure</a:t>
            </a:r>
            <a:endParaRPr lang="en-US" sz="3000" dirty="0"/>
          </a:p>
        </p:txBody>
      </p:sp>
      <p:sp>
        <p:nvSpPr>
          <p:cNvPr id="6" name="Shape 3"/>
          <p:cNvSpPr/>
          <p:nvPr/>
        </p:nvSpPr>
        <p:spPr>
          <a:xfrm>
            <a:off x="640080" y="1874520"/>
            <a:ext cx="10908792" cy="1051560"/>
          </a:xfrm>
          <a:prstGeom prst="roundRect">
            <a:avLst>
              <a:gd name="adj" fmla="val 7826"/>
            </a:avLst>
          </a:prstGeom>
          <a:solidFill>
            <a:srgbClr val="F4F7FA"/>
          </a:solidFill>
          <a:ln/>
          <a:effectLst>
            <a:outerShdw sx="100000" sy="100000" kx="0" ky="0" algn="bl" rotWithShape="0" blurRad="76200" dist="25400" dir="5400000">
              <a:srgbClr val="1B2A4A">
                <a:alpha val="18000"/>
              </a:srgbClr>
            </a:outerShdw>
          </a:effectLst>
        </p:spPr>
      </p:sp>
      <p:sp>
        <p:nvSpPr>
          <p:cNvPr id="7" name="Text 4"/>
          <p:cNvSpPr txBox="1"/>
          <p:nvPr/>
        </p:nvSpPr>
        <p:spPr>
          <a:xfrm>
            <a:off x="914400" y="2039112"/>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MOTIVATION</a:t>
            </a:r>
            <a:endParaRPr lang="en-US" sz="1100" dirty="0"/>
          </a:p>
        </p:txBody>
      </p:sp>
      <p:sp>
        <p:nvSpPr>
          <p:cNvPr id="8" name="Text 5"/>
          <p:cNvSpPr txBox="1"/>
          <p:nvPr/>
        </p:nvSpPr>
        <p:spPr>
          <a:xfrm>
            <a:off x="914400" y="2313432"/>
            <a:ext cx="10332720" cy="502920"/>
          </a:xfrm>
          <a:prstGeom prst="rect">
            <a:avLst/>
          </a:prstGeom>
          <a:noFill/>
          <a:ln/>
        </p:spPr>
        <p:txBody>
          <a:bodyPr wrap="square" lIns="0" tIns="0" rIns="0" bIns="0" rtlCol="0" anchor="t"/>
          <a:lstStyle/>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This entire debugging journey played out against a site where most of the recommended path list simply didn't exist, and the real values lived somewhere never guessed at (leadingedje.com's actual nav shares almost no overlap with the guess list). A fixed list will always have this failure mode on some sites.</a:t>
            </a:r>
            <a:endParaRPr lang="en-US" sz="1250" dirty="0"/>
          </a:p>
        </p:txBody>
      </p:sp>
      <p:sp>
        <p:nvSpPr>
          <p:cNvPr id="9" name="Shape 6"/>
          <p:cNvSpPr/>
          <p:nvPr/>
        </p:nvSpPr>
        <p:spPr>
          <a:xfrm>
            <a:off x="640080" y="3054096"/>
            <a:ext cx="10908792" cy="1417320"/>
          </a:xfrm>
          <a:prstGeom prst="roundRect">
            <a:avLst>
              <a:gd name="adj" fmla="val 5806"/>
            </a:avLst>
          </a:prstGeom>
          <a:solidFill>
            <a:srgbClr val="F4F7FA"/>
          </a:solidFill>
          <a:ln/>
          <a:effectLst>
            <a:outerShdw sx="100000" sy="100000" kx="0" ky="0" algn="bl" rotWithShape="0" blurRad="76200" dist="25400" dir="5400000">
              <a:srgbClr val="1B2A4A">
                <a:alpha val="18000"/>
              </a:srgbClr>
            </a:outerShdw>
          </a:effectLst>
        </p:spPr>
      </p:sp>
      <p:sp>
        <p:nvSpPr>
          <p:cNvPr id="10" name="Text 7"/>
          <p:cNvSpPr txBox="1"/>
          <p:nvPr/>
        </p:nvSpPr>
        <p:spPr>
          <a:xfrm>
            <a:off x="914400" y="3218688"/>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WHAT SHIPPED</a:t>
            </a:r>
            <a:endParaRPr lang="en-US" sz="1100" dirty="0"/>
          </a:p>
        </p:txBody>
      </p:sp>
      <p:sp>
        <p:nvSpPr>
          <p:cNvPr id="11" name="Text 8"/>
          <p:cNvSpPr txBox="1"/>
          <p:nvPr/>
        </p:nvSpPr>
        <p:spPr>
          <a:xfrm>
            <a:off x="914400" y="3493008"/>
            <a:ext cx="10332720" cy="868680"/>
          </a:xfrm>
          <a:prstGeom prst="rect">
            <a:avLst/>
          </a:prstGeom>
          <a:noFill/>
          <a:ln/>
        </p:spPr>
        <p:txBody>
          <a:bodyPr wrap="square" lIns="0" tIns="0" rIns="0" bIns="0" rtlCol="0" anchor="t"/>
          <a:lstStyle/>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The homepage is now fetched first and scraped for its own same-origin links — anything not already covered by the recommended list becomes an additional candidate, ranked by relevance and capped at 10. Separately, if a careers-style page turns up, its own links are checked for something that looks like an individual job posting, which gets fetched too — some companies state their values inside listings rather than on the careers page itself.</a:t>
            </a:r>
            <a:endParaRPr lang="en-US" sz="1250" dirty="0"/>
          </a:p>
        </p:txBody>
      </p:sp>
      <p:sp>
        <p:nvSpPr>
          <p:cNvPr id="12" name="Shape 9"/>
          <p:cNvSpPr/>
          <p:nvPr/>
        </p:nvSpPr>
        <p:spPr>
          <a:xfrm>
            <a:off x="640080" y="4599432"/>
            <a:ext cx="10908792" cy="960120"/>
          </a:xfrm>
          <a:prstGeom prst="roundRect">
            <a:avLst>
              <a:gd name="adj" fmla="val 8571"/>
            </a:avLst>
          </a:prstGeom>
          <a:solidFill>
            <a:srgbClr val="F4F7FA"/>
          </a:solidFill>
          <a:ln/>
          <a:effectLst>
            <a:outerShdw sx="100000" sy="100000" kx="0" ky="0" algn="bl" rotWithShape="0" blurRad="76200" dist="25400" dir="5400000">
              <a:srgbClr val="1B2A4A">
                <a:alpha val="18000"/>
              </a:srgbClr>
            </a:outerShdw>
          </a:effectLst>
        </p:spPr>
      </p:sp>
      <p:sp>
        <p:nvSpPr>
          <p:cNvPr id="13" name="Text 10"/>
          <p:cNvSpPr txBox="1"/>
          <p:nvPr/>
        </p:nvSpPr>
        <p:spPr>
          <a:xfrm>
            <a:off x="914400" y="4764024"/>
            <a:ext cx="3200400" cy="256032"/>
          </a:xfrm>
          <a:prstGeom prst="rect">
            <a:avLst/>
          </a:prstGeom>
          <a:noFill/>
          <a:ln/>
        </p:spPr>
        <p:txBody>
          <a:bodyPr wrap="square" lIns="0" tIns="0" rIns="0" bIns="0" rtlCol="0" anchor="ctr"/>
          <a:lstStyle/>
          <a:p>
            <a:pPr indent="0" marL="0">
              <a:buNone/>
            </a:pPr>
            <a:r>
              <a:rPr lang="en-US" sz="1100" b="1" spc="150" kern="0" dirty="0">
                <a:solidFill>
                  <a:srgbClr val="F38020"/>
                </a:solidFill>
                <a:latin typeface="Calibri" pitchFamily="34" charset="0"/>
                <a:ea typeface="Calibri" pitchFamily="34" charset="-122"/>
                <a:cs typeface="Calibri" pitchFamily="34" charset="-120"/>
              </a:rPr>
              <a:t>KNOWN LIMITATION</a:t>
            </a:r>
            <a:endParaRPr lang="en-US" sz="1100" dirty="0"/>
          </a:p>
        </p:txBody>
      </p:sp>
      <p:sp>
        <p:nvSpPr>
          <p:cNvPr id="14" name="Text 11"/>
          <p:cNvSpPr txBox="1"/>
          <p:nvPr/>
        </p:nvSpPr>
        <p:spPr>
          <a:xfrm>
            <a:off x="914400" y="5038344"/>
            <a:ext cx="10332720" cy="411480"/>
          </a:xfrm>
          <a:prstGeom prst="rect">
            <a:avLst/>
          </a:prstGeom>
          <a:noFill/>
          <a:ln/>
        </p:spPr>
        <p:txBody>
          <a:bodyPr wrap="square" lIns="0" tIns="0" rIns="0" bIns="0" rtlCol="0" anchor="t"/>
          <a:lstStyle/>
          <a:p>
            <a:pPr indent="0" marL="0">
              <a:lnSpc>
                <a:spcPct val="112000"/>
              </a:lnSpc>
              <a:buNone/>
            </a:pPr>
            <a:r>
              <a:rPr lang="en-US" sz="1250" dirty="0">
                <a:solidFill>
                  <a:srgbClr val="1B2A4A"/>
                </a:solidFill>
                <a:latin typeface="Calibri" pitchFamily="34" charset="0"/>
                <a:ea typeface="Calibri" pitchFamily="34" charset="-122"/>
                <a:cs typeface="Calibri" pitchFamily="34" charset="-120"/>
              </a:rPr>
              <a:t>Discovered links are deduplicated by URL, not content — a homepage linking to itself under more than one path (e.g. both / and /home) can produce one redundant fetch. Accepted: harmless duplication, not misleading content, versus the complexity of content-based dedup.</a:t>
            </a:r>
            <a:endParaRPr lang="en-US" sz="1250" dirty="0"/>
          </a:p>
        </p:txBody>
      </p:sp>
      <p:sp>
        <p:nvSpPr>
          <p:cNvPr id="15" name="Text 12"/>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16" name="Text 13"/>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6B7A8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502920"/>
            <a:ext cx="100584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TECHNICAL LESSONS</a:t>
            </a:r>
            <a:endParaRPr lang="en-US" sz="1300" dirty="0"/>
          </a:p>
        </p:txBody>
      </p:sp>
      <p:pic>
        <p:nvPicPr>
          <p:cNvPr id="3" name="Image 0" descr="preencoded.png">    </p:cNvPr>
          <p:cNvPicPr>
            <a:picLocks noChangeAspect="1"/>
          </p:cNvPicPr>
          <p:nvPr/>
        </p:nvPicPr>
        <p:blipFill>
          <a:blip r:embed="rId1"/>
          <a:stretch>
            <a:fillRect/>
          </a:stretch>
        </p:blipFill>
        <p:spPr>
          <a:xfrm>
            <a:off x="640080" y="804672"/>
            <a:ext cx="502920" cy="502920"/>
          </a:xfrm>
          <a:prstGeom prst="rect">
            <a:avLst/>
          </a:prstGeom>
        </p:spPr>
      </p:pic>
      <p:sp>
        <p:nvSpPr>
          <p:cNvPr id="4" name="Text 1"/>
          <p:cNvSpPr txBox="1"/>
          <p:nvPr/>
        </p:nvSpPr>
        <p:spPr>
          <a:xfrm>
            <a:off x="1325880" y="749808"/>
            <a:ext cx="96012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We'd Tell the Next Team</a:t>
            </a:r>
            <a:endParaRPr lang="en-US" sz="3000" dirty="0"/>
          </a:p>
        </p:txBody>
      </p:sp>
      <p:sp>
        <p:nvSpPr>
          <p:cNvPr id="5" name="Shape 2"/>
          <p:cNvSpPr/>
          <p:nvPr/>
        </p:nvSpPr>
        <p:spPr>
          <a:xfrm>
            <a:off x="640080" y="1691640"/>
            <a:ext cx="3520440" cy="1965960"/>
          </a:xfrm>
          <a:prstGeom prst="roundRect">
            <a:avLst>
              <a:gd name="adj" fmla="val 4186"/>
            </a:avLst>
          </a:prstGeom>
          <a:solidFill>
            <a:srgbClr val="141F38"/>
          </a:solidFill>
          <a:ln/>
        </p:spPr>
      </p:sp>
      <p:sp>
        <p:nvSpPr>
          <p:cNvPr id="6" name="Shape 3"/>
          <p:cNvSpPr/>
          <p:nvPr/>
        </p:nvSpPr>
        <p:spPr>
          <a:xfrm>
            <a:off x="841248" y="1892808"/>
            <a:ext cx="457200" cy="457200"/>
          </a:xfrm>
          <a:prstGeom prst="ellipse">
            <a:avLst/>
          </a:prstGeom>
          <a:solidFill>
            <a:srgbClr val="F38020"/>
          </a:solidFill>
          <a:ln/>
        </p:spPr>
      </p:sp>
      <p:pic>
        <p:nvPicPr>
          <p:cNvPr id="7" name="Image 1" descr="preencoded.png">    </p:cNvPr>
          <p:cNvPicPr>
            <a:picLocks noChangeAspect="1"/>
          </p:cNvPicPr>
          <p:nvPr/>
        </p:nvPicPr>
        <p:blipFill>
          <a:blip r:embed="rId2"/>
          <a:stretch>
            <a:fillRect/>
          </a:stretch>
        </p:blipFill>
        <p:spPr>
          <a:xfrm>
            <a:off x="969264" y="2020824"/>
            <a:ext cx="201168" cy="201168"/>
          </a:xfrm>
          <a:prstGeom prst="rect">
            <a:avLst/>
          </a:prstGeom>
        </p:spPr>
      </p:pic>
      <p:sp>
        <p:nvSpPr>
          <p:cNvPr id="8" name="Text 4"/>
          <p:cNvSpPr txBox="1"/>
          <p:nvPr/>
        </p:nvSpPr>
        <p:spPr>
          <a:xfrm>
            <a:off x="841248" y="2468880"/>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Vars ≠ Secrets</a:t>
            </a:r>
            <a:endParaRPr lang="en-US" sz="1350" dirty="0"/>
          </a:p>
        </p:txBody>
      </p:sp>
      <p:sp>
        <p:nvSpPr>
          <p:cNvPr id="9" name="Text 5"/>
          <p:cNvSpPr txBox="1"/>
          <p:nvPr/>
        </p:nvSpPr>
        <p:spPr>
          <a:xfrm>
            <a:off x="841248" y="2807208"/>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Plaintext vars get printed in deploy diffs. Credentials are always secrets.</a:t>
            </a:r>
            <a:endParaRPr lang="en-US" sz="1080" dirty="0"/>
          </a:p>
        </p:txBody>
      </p:sp>
      <p:sp>
        <p:nvSpPr>
          <p:cNvPr id="10" name="Shape 6"/>
          <p:cNvSpPr/>
          <p:nvPr/>
        </p:nvSpPr>
        <p:spPr>
          <a:xfrm>
            <a:off x="4416552" y="1691640"/>
            <a:ext cx="3520440" cy="1965960"/>
          </a:xfrm>
          <a:prstGeom prst="roundRect">
            <a:avLst>
              <a:gd name="adj" fmla="val 4186"/>
            </a:avLst>
          </a:prstGeom>
          <a:solidFill>
            <a:srgbClr val="141F38"/>
          </a:solidFill>
          <a:ln/>
        </p:spPr>
      </p:sp>
      <p:sp>
        <p:nvSpPr>
          <p:cNvPr id="11" name="Shape 7"/>
          <p:cNvSpPr/>
          <p:nvPr/>
        </p:nvSpPr>
        <p:spPr>
          <a:xfrm>
            <a:off x="4617720" y="1892808"/>
            <a:ext cx="457200" cy="457200"/>
          </a:xfrm>
          <a:prstGeom prst="ellipse">
            <a:avLst/>
          </a:prstGeom>
          <a:solidFill>
            <a:srgbClr val="F38020"/>
          </a:solidFill>
          <a:ln/>
        </p:spPr>
      </p:sp>
      <p:pic>
        <p:nvPicPr>
          <p:cNvPr id="12" name="Image 2" descr="preencoded.png">    </p:cNvPr>
          <p:cNvPicPr>
            <a:picLocks noChangeAspect="1"/>
          </p:cNvPicPr>
          <p:nvPr/>
        </p:nvPicPr>
        <p:blipFill>
          <a:blip r:embed="rId3"/>
          <a:stretch>
            <a:fillRect/>
          </a:stretch>
        </p:blipFill>
        <p:spPr>
          <a:xfrm>
            <a:off x="4745736" y="2020824"/>
            <a:ext cx="201168" cy="201168"/>
          </a:xfrm>
          <a:prstGeom prst="rect">
            <a:avLst/>
          </a:prstGeom>
        </p:spPr>
      </p:pic>
      <p:sp>
        <p:nvSpPr>
          <p:cNvPr id="13" name="Text 8"/>
          <p:cNvSpPr txBox="1"/>
          <p:nvPr/>
        </p:nvSpPr>
        <p:spPr>
          <a:xfrm>
            <a:off x="4617720" y="2468880"/>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fetch() Never Runs JS</a:t>
            </a:r>
            <a:endParaRPr lang="en-US" sz="1350" dirty="0"/>
          </a:p>
        </p:txBody>
      </p:sp>
      <p:sp>
        <p:nvSpPr>
          <p:cNvPr id="14" name="Text 9"/>
          <p:cNvSpPr txBox="1"/>
          <p:nvPr/>
        </p:nvSpPr>
        <p:spPr>
          <a:xfrm>
            <a:off x="4617720" y="2807208"/>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A plain fetch only ever sees server HTML. No timeout fixes a client-rendered SPA.</a:t>
            </a:r>
            <a:endParaRPr lang="en-US" sz="1080" dirty="0"/>
          </a:p>
        </p:txBody>
      </p:sp>
      <p:sp>
        <p:nvSpPr>
          <p:cNvPr id="15" name="Shape 10"/>
          <p:cNvSpPr/>
          <p:nvPr/>
        </p:nvSpPr>
        <p:spPr>
          <a:xfrm>
            <a:off x="8193024" y="1691640"/>
            <a:ext cx="3520440" cy="1965960"/>
          </a:xfrm>
          <a:prstGeom prst="roundRect">
            <a:avLst>
              <a:gd name="adj" fmla="val 4186"/>
            </a:avLst>
          </a:prstGeom>
          <a:solidFill>
            <a:srgbClr val="141F38"/>
          </a:solidFill>
          <a:ln/>
        </p:spPr>
      </p:sp>
      <p:sp>
        <p:nvSpPr>
          <p:cNvPr id="16" name="Shape 11"/>
          <p:cNvSpPr/>
          <p:nvPr/>
        </p:nvSpPr>
        <p:spPr>
          <a:xfrm>
            <a:off x="8394192" y="1892808"/>
            <a:ext cx="457200" cy="457200"/>
          </a:xfrm>
          <a:prstGeom prst="ellipse">
            <a:avLst/>
          </a:prstGeom>
          <a:solidFill>
            <a:srgbClr val="F38020"/>
          </a:solidFill>
          <a:ln/>
        </p:spPr>
      </p:sp>
      <p:pic>
        <p:nvPicPr>
          <p:cNvPr id="17" name="Image 3" descr="preencoded.png">    </p:cNvPr>
          <p:cNvPicPr>
            <a:picLocks noChangeAspect="1"/>
          </p:cNvPicPr>
          <p:nvPr/>
        </p:nvPicPr>
        <p:blipFill>
          <a:blip r:embed="rId4"/>
          <a:stretch>
            <a:fillRect/>
          </a:stretch>
        </p:blipFill>
        <p:spPr>
          <a:xfrm>
            <a:off x="8522208" y="2020824"/>
            <a:ext cx="201168" cy="201168"/>
          </a:xfrm>
          <a:prstGeom prst="rect">
            <a:avLst/>
          </a:prstGeom>
        </p:spPr>
      </p:pic>
      <p:sp>
        <p:nvSpPr>
          <p:cNvPr id="18" name="Text 12"/>
          <p:cNvSpPr txBox="1"/>
          <p:nvPr/>
        </p:nvSpPr>
        <p:spPr>
          <a:xfrm>
            <a:off x="8394192" y="2468880"/>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Ratio Beats Raw Length</a:t>
            </a:r>
            <a:endParaRPr lang="en-US" sz="1350" dirty="0"/>
          </a:p>
        </p:txBody>
      </p:sp>
      <p:sp>
        <p:nvSpPr>
          <p:cNvPr id="19" name="Text 13"/>
          <p:cNvSpPr txBox="1"/>
          <p:nvPr/>
        </p:nvSpPr>
        <p:spPr>
          <a:xfrm>
            <a:off x="8394192" y="2807208"/>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Text-to-HTML ratio catches thin SPA shells that a character-count floor misses.</a:t>
            </a:r>
            <a:endParaRPr lang="en-US" sz="1080" dirty="0"/>
          </a:p>
        </p:txBody>
      </p:sp>
      <p:sp>
        <p:nvSpPr>
          <p:cNvPr id="20" name="Shape 14"/>
          <p:cNvSpPr/>
          <p:nvPr/>
        </p:nvSpPr>
        <p:spPr>
          <a:xfrm>
            <a:off x="640080" y="3858768"/>
            <a:ext cx="3520440" cy="1965960"/>
          </a:xfrm>
          <a:prstGeom prst="roundRect">
            <a:avLst>
              <a:gd name="adj" fmla="val 4186"/>
            </a:avLst>
          </a:prstGeom>
          <a:solidFill>
            <a:srgbClr val="141F38"/>
          </a:solidFill>
          <a:ln/>
        </p:spPr>
      </p:sp>
      <p:sp>
        <p:nvSpPr>
          <p:cNvPr id="21" name="Shape 15"/>
          <p:cNvSpPr/>
          <p:nvPr/>
        </p:nvSpPr>
        <p:spPr>
          <a:xfrm>
            <a:off x="841248" y="4059936"/>
            <a:ext cx="457200" cy="457200"/>
          </a:xfrm>
          <a:prstGeom prst="ellipse">
            <a:avLst/>
          </a:prstGeom>
          <a:solidFill>
            <a:srgbClr val="F38020"/>
          </a:solidFill>
          <a:ln/>
        </p:spPr>
      </p:sp>
      <p:pic>
        <p:nvPicPr>
          <p:cNvPr id="22" name="Image 4" descr="preencoded.png">    </p:cNvPr>
          <p:cNvPicPr>
            <a:picLocks noChangeAspect="1"/>
          </p:cNvPicPr>
          <p:nvPr/>
        </p:nvPicPr>
        <p:blipFill>
          <a:blip r:embed="rId5"/>
          <a:stretch>
            <a:fillRect/>
          </a:stretch>
        </p:blipFill>
        <p:spPr>
          <a:xfrm>
            <a:off x="969264" y="4187952"/>
            <a:ext cx="201168" cy="201168"/>
          </a:xfrm>
          <a:prstGeom prst="rect">
            <a:avLst/>
          </a:prstGeom>
        </p:spPr>
      </p:pic>
      <p:sp>
        <p:nvSpPr>
          <p:cNvPr id="23" name="Text 16"/>
          <p:cNvSpPr txBox="1"/>
          <p:nvPr/>
        </p:nvSpPr>
        <p:spPr>
          <a:xfrm>
            <a:off x="841248" y="4636008"/>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Don't Rescue a 404</a:t>
            </a:r>
            <a:endParaRPr lang="en-US" sz="1350" dirty="0"/>
          </a:p>
        </p:txBody>
      </p:sp>
      <p:sp>
        <p:nvSpPr>
          <p:cNvPr id="24" name="Text 17"/>
          <p:cNvSpPr txBox="1"/>
          <p:nvPr/>
        </p:nvSpPr>
        <p:spPr>
          <a:xfrm>
            <a:off x="841248" y="4974336"/>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A confirmed error status is authoritative — rendering it anyway can substitute the wrong page's content.</a:t>
            </a:r>
            <a:endParaRPr lang="en-US" sz="1080" dirty="0"/>
          </a:p>
        </p:txBody>
      </p:sp>
      <p:sp>
        <p:nvSpPr>
          <p:cNvPr id="25" name="Shape 18"/>
          <p:cNvSpPr/>
          <p:nvPr/>
        </p:nvSpPr>
        <p:spPr>
          <a:xfrm>
            <a:off x="4416552" y="3858768"/>
            <a:ext cx="3520440" cy="1965960"/>
          </a:xfrm>
          <a:prstGeom prst="roundRect">
            <a:avLst>
              <a:gd name="adj" fmla="val 4186"/>
            </a:avLst>
          </a:prstGeom>
          <a:solidFill>
            <a:srgbClr val="141F38"/>
          </a:solidFill>
          <a:ln/>
        </p:spPr>
      </p:sp>
      <p:sp>
        <p:nvSpPr>
          <p:cNvPr id="26" name="Shape 19"/>
          <p:cNvSpPr/>
          <p:nvPr/>
        </p:nvSpPr>
        <p:spPr>
          <a:xfrm>
            <a:off x="4617720" y="4059936"/>
            <a:ext cx="457200" cy="457200"/>
          </a:xfrm>
          <a:prstGeom prst="ellipse">
            <a:avLst/>
          </a:prstGeom>
          <a:solidFill>
            <a:srgbClr val="F38020"/>
          </a:solidFill>
          <a:ln/>
        </p:spPr>
      </p:sp>
      <p:pic>
        <p:nvPicPr>
          <p:cNvPr id="27" name="Image 5" descr="preencoded.png">    </p:cNvPr>
          <p:cNvPicPr>
            <a:picLocks noChangeAspect="1"/>
          </p:cNvPicPr>
          <p:nvPr/>
        </p:nvPicPr>
        <p:blipFill>
          <a:blip r:embed="rId6"/>
          <a:stretch>
            <a:fillRect/>
          </a:stretch>
        </p:blipFill>
        <p:spPr>
          <a:xfrm>
            <a:off x="4745736" y="4187952"/>
            <a:ext cx="201168" cy="201168"/>
          </a:xfrm>
          <a:prstGeom prst="rect">
            <a:avLst/>
          </a:prstGeom>
        </p:spPr>
      </p:pic>
      <p:sp>
        <p:nvSpPr>
          <p:cNvPr id="28" name="Text 20"/>
          <p:cNvSpPr txBox="1"/>
          <p:nvPr/>
        </p:nvSpPr>
        <p:spPr>
          <a:xfrm>
            <a:off x="4617720" y="4636008"/>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Pick the Right Endpoint</a:t>
            </a:r>
            <a:endParaRPr lang="en-US" sz="1350" dirty="0"/>
          </a:p>
        </p:txBody>
      </p:sp>
      <p:sp>
        <p:nvSpPr>
          <p:cNvPr id="29" name="Text 21"/>
          <p:cNvSpPr txBox="1"/>
          <p:nvPr/>
        </p:nvSpPr>
        <p:spPr>
          <a:xfrm>
            <a:off x="4617720" y="4974336"/>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/markdown for whole-page text; reserve AI-powered /json for small, bounded extractions.</a:t>
            </a:r>
            <a:endParaRPr lang="en-US" sz="1080" dirty="0"/>
          </a:p>
        </p:txBody>
      </p:sp>
      <p:sp>
        <p:nvSpPr>
          <p:cNvPr id="30" name="Shape 22"/>
          <p:cNvSpPr/>
          <p:nvPr/>
        </p:nvSpPr>
        <p:spPr>
          <a:xfrm>
            <a:off x="8193024" y="3858768"/>
            <a:ext cx="3520440" cy="1965960"/>
          </a:xfrm>
          <a:prstGeom prst="roundRect">
            <a:avLst>
              <a:gd name="adj" fmla="val 4186"/>
            </a:avLst>
          </a:prstGeom>
          <a:solidFill>
            <a:srgbClr val="141F38"/>
          </a:solidFill>
          <a:ln/>
        </p:spPr>
      </p:sp>
      <p:sp>
        <p:nvSpPr>
          <p:cNvPr id="31" name="Shape 23"/>
          <p:cNvSpPr/>
          <p:nvPr/>
        </p:nvSpPr>
        <p:spPr>
          <a:xfrm>
            <a:off x="8394192" y="4059936"/>
            <a:ext cx="457200" cy="457200"/>
          </a:xfrm>
          <a:prstGeom prst="ellipse">
            <a:avLst/>
          </a:prstGeom>
          <a:solidFill>
            <a:srgbClr val="F38020"/>
          </a:solidFill>
          <a:ln/>
        </p:spPr>
      </p:sp>
      <p:pic>
        <p:nvPicPr>
          <p:cNvPr id="32" name="Image 6" descr="preencoded.png">    </p:cNvPr>
          <p:cNvPicPr>
            <a:picLocks noChangeAspect="1"/>
          </p:cNvPicPr>
          <p:nvPr/>
        </p:nvPicPr>
        <p:blipFill>
          <a:blip r:embed="rId7"/>
          <a:stretch>
            <a:fillRect/>
          </a:stretch>
        </p:blipFill>
        <p:spPr>
          <a:xfrm>
            <a:off x="8522208" y="4187952"/>
            <a:ext cx="201168" cy="201168"/>
          </a:xfrm>
          <a:prstGeom prst="rect">
            <a:avLst/>
          </a:prstGeom>
        </p:spPr>
      </p:pic>
      <p:sp>
        <p:nvSpPr>
          <p:cNvPr id="33" name="Text 24"/>
          <p:cNvSpPr txBox="1"/>
          <p:nvPr/>
        </p:nvSpPr>
        <p:spPr>
          <a:xfrm>
            <a:off x="8394192" y="4636008"/>
            <a:ext cx="3118104"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Always Close the Body</a:t>
            </a:r>
            <a:endParaRPr lang="en-US" sz="1350" dirty="0"/>
          </a:p>
        </p:txBody>
      </p:sp>
      <p:sp>
        <p:nvSpPr>
          <p:cNvPr id="34" name="Text 25"/>
          <p:cNvSpPr txBox="1"/>
          <p:nvPr/>
        </p:nvSpPr>
        <p:spPr>
          <a:xfrm>
            <a:off x="8394192" y="4974336"/>
            <a:ext cx="3118104" cy="777240"/>
          </a:xfrm>
          <a:prstGeom prst="rect">
            <a:avLst/>
          </a:prstGeom>
          <a:noFill/>
          <a:ln/>
        </p:spPr>
        <p:txBody>
          <a:bodyPr wrap="square" lIns="0" tIns="0" rIns="0" bIns="0" rtlCol="0" anchor="ctr"/>
          <a:lstStyle/>
          <a:p>
            <a:pPr indent="0" marL="0">
              <a:lnSpc>
                <a:spcPct val="115000"/>
              </a:lnSpc>
              <a:buNone/>
            </a:pPr>
            <a:r>
              <a:rPr lang="en-US" sz="1080" dirty="0">
                <a:solidFill>
                  <a:srgbClr val="8AA0BE"/>
                </a:solidFill>
                <a:latin typeface="Calibri" pitchFamily="34" charset="0"/>
                <a:ea typeface="Calibri" pitchFamily="34" charset="-122"/>
                <a:cs typeface="Calibri" pitchFamily="34" charset="-120"/>
              </a:rPr>
              <a:t>An unread response body under concurrency triggers real runtime failures, not just a lint warning.</a:t>
            </a:r>
            <a:endParaRPr lang="en-US" sz="1080" dirty="0"/>
          </a:p>
        </p:txBody>
      </p:sp>
      <p:sp>
        <p:nvSpPr>
          <p:cNvPr id="35" name="Text 26"/>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8AA0BE"/>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36" name="Text 27"/>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8AA0B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502920"/>
            <a:ext cx="10058400" cy="292608"/>
          </a:xfrm>
          <a:prstGeom prst="rect">
            <a:avLst/>
          </a:prstGeom>
          <a:noFill/>
          <a:ln/>
        </p:spPr>
        <p:txBody>
          <a:bodyPr wrap="square" lIns="0" tIns="0" rIns="0" bIns="0" rtlCol="0" anchor="ctr"/>
          <a:lstStyle/>
          <a:p>
            <a:pPr indent="0" marL="0">
              <a:buNone/>
            </a:pPr>
            <a:r>
              <a:rPr lang="en-US" sz="1300" b="1" spc="200" kern="0" dirty="0">
                <a:solidFill>
                  <a:srgbClr val="F38020"/>
                </a:solidFill>
                <a:latin typeface="Calibri" pitchFamily="34" charset="0"/>
                <a:ea typeface="Calibri" pitchFamily="34" charset="-122"/>
                <a:cs typeface="Calibri" pitchFamily="34" charset="-120"/>
              </a:rPr>
              <a:t>RETROSPECTIVE</a:t>
            </a:r>
            <a:endParaRPr lang="en-US" sz="1300" dirty="0"/>
          </a:p>
        </p:txBody>
      </p:sp>
      <p:pic>
        <p:nvPicPr>
          <p:cNvPr id="3" name="Image 0" descr="preencoded.png">    </p:cNvPr>
          <p:cNvPicPr>
            <a:picLocks noChangeAspect="1"/>
          </p:cNvPicPr>
          <p:nvPr/>
        </p:nvPicPr>
        <p:blipFill>
          <a:blip r:embed="rId1"/>
          <a:stretch>
            <a:fillRect/>
          </a:stretch>
        </p:blipFill>
        <p:spPr>
          <a:xfrm>
            <a:off x="640080" y="804672"/>
            <a:ext cx="502920" cy="502920"/>
          </a:xfrm>
          <a:prstGeom prst="rect">
            <a:avLst/>
          </a:prstGeom>
        </p:spPr>
      </p:pic>
      <p:sp>
        <p:nvSpPr>
          <p:cNvPr id="4" name="Text 1"/>
          <p:cNvSpPr txBox="1"/>
          <p:nvPr/>
        </p:nvSpPr>
        <p:spPr>
          <a:xfrm>
            <a:off x="1325880" y="749808"/>
            <a:ext cx="96012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Things Worth Remembering</a:t>
            </a:r>
            <a:endParaRPr lang="en-US" sz="3000" dirty="0"/>
          </a:p>
        </p:txBody>
      </p:sp>
      <p:sp>
        <p:nvSpPr>
          <p:cNvPr id="5" name="Shape 2"/>
          <p:cNvSpPr/>
          <p:nvPr/>
        </p:nvSpPr>
        <p:spPr>
          <a:xfrm>
            <a:off x="640080" y="1691640"/>
            <a:ext cx="5166360" cy="2103120"/>
          </a:xfrm>
          <a:prstGeom prst="roundRect">
            <a:avLst>
              <a:gd name="adj" fmla="val 3913"/>
            </a:avLst>
          </a:prstGeom>
          <a:solidFill>
            <a:srgbClr val="141F38"/>
          </a:solidFill>
          <a:ln/>
        </p:spPr>
      </p:sp>
      <p:sp>
        <p:nvSpPr>
          <p:cNvPr id="6" name="Text 3"/>
          <p:cNvSpPr txBox="1"/>
          <p:nvPr/>
        </p:nvSpPr>
        <p:spPr>
          <a:xfrm>
            <a:off x="868680" y="1874520"/>
            <a:ext cx="640080" cy="548640"/>
          </a:xfrm>
          <a:prstGeom prst="rect">
            <a:avLst/>
          </a:prstGeom>
          <a:noFill/>
          <a:ln/>
        </p:spPr>
        <p:txBody>
          <a:bodyPr wrap="square" lIns="0" tIns="0" rIns="0" bIns="0" rtlCol="0" anchor="ctr"/>
          <a:lstStyle/>
          <a:p>
            <a:pPr indent="0" marL="0">
              <a:buNone/>
            </a:pPr>
            <a:r>
              <a:rPr lang="en-US" sz="3000" b="1" dirty="0">
                <a:solidFill>
                  <a:srgbClr val="F38020"/>
                </a:solidFill>
                <a:latin typeface="Cambria" pitchFamily="34" charset="0"/>
                <a:ea typeface="Cambria" pitchFamily="34" charset="-122"/>
                <a:cs typeface="Cambria" pitchFamily="34" charset="-120"/>
              </a:rPr>
              <a:t>1</a:t>
            </a:r>
            <a:endParaRPr lang="en-US" sz="3000" dirty="0"/>
          </a:p>
        </p:txBody>
      </p:sp>
      <p:sp>
        <p:nvSpPr>
          <p:cNvPr id="7" name="Text 4"/>
          <p:cNvSpPr txBox="1"/>
          <p:nvPr/>
        </p:nvSpPr>
        <p:spPr>
          <a:xfrm>
            <a:off x="1508760" y="1892808"/>
            <a:ext cx="4069080" cy="6858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A Symptom Can Have Several Stacked Causes</a:t>
            </a:r>
            <a:endParaRPr lang="en-US" sz="1500" dirty="0"/>
          </a:p>
        </p:txBody>
      </p:sp>
      <p:sp>
        <p:nvSpPr>
          <p:cNvPr id="8" name="Text 5"/>
          <p:cNvSpPr txBox="1"/>
          <p:nvPr/>
        </p:nvSpPr>
        <p:spPr>
          <a:xfrm>
            <a:off x="868680" y="2606040"/>
            <a:ext cx="4709160" cy="1051560"/>
          </a:xfrm>
          <a:prstGeom prst="rect">
            <a:avLst/>
          </a:prstGeom>
          <a:noFill/>
          <a:ln/>
        </p:spPr>
        <p:txBody>
          <a:bodyPr wrap="square" lIns="0" tIns="0" rIns="0" bIns="0" rtlCol="0" anchor="ctr"/>
          <a:lstStyle/>
          <a:p>
            <a:pPr indent="0" marL="0">
              <a:lnSpc>
                <a:spcPct val="120000"/>
              </a:lnSpc>
              <a:buNone/>
            </a:pPr>
            <a:r>
              <a:rPr lang="en-US" sz="1130" dirty="0">
                <a:solidFill>
                  <a:srgbClr val="8AA0BE"/>
                </a:solidFill>
                <a:latin typeface="Calibri" pitchFamily="34" charset="0"/>
                <a:ea typeface="Calibri" pitchFamily="34" charset="-122"/>
                <a:cs typeface="Calibri" pitchFamily="34" charset="-120"/>
              </a:rPr>
              <a:t>“Values are wrong” was, in sequence, a rendering problem, a leaked credential, a stale deploy, an unset config value, a wrong endpoint choice, an SPA-routing edge case, config drift, and a truncation bug. Each fix was necessary but not sufficient alone.</a:t>
            </a:r>
            <a:endParaRPr lang="en-US" sz="1130" dirty="0"/>
          </a:p>
        </p:txBody>
      </p:sp>
      <p:sp>
        <p:nvSpPr>
          <p:cNvPr id="9" name="Shape 6"/>
          <p:cNvSpPr/>
          <p:nvPr/>
        </p:nvSpPr>
        <p:spPr>
          <a:xfrm>
            <a:off x="6172200" y="1691640"/>
            <a:ext cx="5166360" cy="2103120"/>
          </a:xfrm>
          <a:prstGeom prst="roundRect">
            <a:avLst>
              <a:gd name="adj" fmla="val 3913"/>
            </a:avLst>
          </a:prstGeom>
          <a:solidFill>
            <a:srgbClr val="141F38"/>
          </a:solidFill>
          <a:ln/>
        </p:spPr>
      </p:sp>
      <p:sp>
        <p:nvSpPr>
          <p:cNvPr id="10" name="Text 7"/>
          <p:cNvSpPr txBox="1"/>
          <p:nvPr/>
        </p:nvSpPr>
        <p:spPr>
          <a:xfrm>
            <a:off x="6400800" y="1874520"/>
            <a:ext cx="640080" cy="548640"/>
          </a:xfrm>
          <a:prstGeom prst="rect">
            <a:avLst/>
          </a:prstGeom>
          <a:noFill/>
          <a:ln/>
        </p:spPr>
        <p:txBody>
          <a:bodyPr wrap="square" lIns="0" tIns="0" rIns="0" bIns="0" rtlCol="0" anchor="ctr"/>
          <a:lstStyle/>
          <a:p>
            <a:pPr indent="0" marL="0">
              <a:buNone/>
            </a:pPr>
            <a:r>
              <a:rPr lang="en-US" sz="3000" b="1" dirty="0">
                <a:solidFill>
                  <a:srgbClr val="F38020"/>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7040880" y="1892808"/>
            <a:ext cx="4069080" cy="6858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Diagnostics Beat Guessing</a:t>
            </a:r>
            <a:endParaRPr lang="en-US" sz="1500" dirty="0"/>
          </a:p>
        </p:txBody>
      </p:sp>
      <p:sp>
        <p:nvSpPr>
          <p:cNvPr id="12" name="Text 9"/>
          <p:cNvSpPr txBox="1"/>
          <p:nvPr/>
        </p:nvSpPr>
        <p:spPr>
          <a:xfrm>
            <a:off x="6400800" y="2606040"/>
            <a:ext cx="4709160" cy="1051560"/>
          </a:xfrm>
          <a:prstGeom prst="rect">
            <a:avLst/>
          </a:prstGeom>
          <a:noFill/>
          <a:ln/>
        </p:spPr>
        <p:txBody>
          <a:bodyPr wrap="square" lIns="0" tIns="0" rIns="0" bIns="0" rtlCol="0" anchor="ctr"/>
          <a:lstStyle/>
          <a:p>
            <a:pPr indent="0" marL="0">
              <a:lnSpc>
                <a:spcPct val="120000"/>
              </a:lnSpc>
              <a:buNone/>
            </a:pPr>
            <a:r>
              <a:rPr lang="en-US" sz="1130" dirty="0">
                <a:solidFill>
                  <a:srgbClr val="8AA0BE"/>
                </a:solidFill>
                <a:latin typeface="Calibri" pitchFamily="34" charset="0"/>
                <a:ea typeface="Calibri" pitchFamily="34" charset="-122"/>
                <a:cs typeface="Calibri" pitchFamily="34" charset="-120"/>
              </a:rPr>
              <a:t>Code review alone repeatedly missed the actual cause. Real logging and response diagnostics — skippedPages, pageStats, source — found each root cause in one round-trip.</a:t>
            </a:r>
            <a:endParaRPr lang="en-US" sz="1130" dirty="0"/>
          </a:p>
        </p:txBody>
      </p:sp>
      <p:sp>
        <p:nvSpPr>
          <p:cNvPr id="13" name="Shape 10"/>
          <p:cNvSpPr/>
          <p:nvPr/>
        </p:nvSpPr>
        <p:spPr>
          <a:xfrm>
            <a:off x="640080" y="4023360"/>
            <a:ext cx="5166360" cy="2103120"/>
          </a:xfrm>
          <a:prstGeom prst="roundRect">
            <a:avLst>
              <a:gd name="adj" fmla="val 3913"/>
            </a:avLst>
          </a:prstGeom>
          <a:solidFill>
            <a:srgbClr val="141F38"/>
          </a:solidFill>
          <a:ln/>
        </p:spPr>
      </p:sp>
      <p:sp>
        <p:nvSpPr>
          <p:cNvPr id="14" name="Text 11"/>
          <p:cNvSpPr txBox="1"/>
          <p:nvPr/>
        </p:nvSpPr>
        <p:spPr>
          <a:xfrm>
            <a:off x="868680" y="4206240"/>
            <a:ext cx="640080" cy="548640"/>
          </a:xfrm>
          <a:prstGeom prst="rect">
            <a:avLst/>
          </a:prstGeom>
          <a:noFill/>
          <a:ln/>
        </p:spPr>
        <p:txBody>
          <a:bodyPr wrap="square" lIns="0" tIns="0" rIns="0" bIns="0" rtlCol="0" anchor="ctr"/>
          <a:lstStyle/>
          <a:p>
            <a:pPr indent="0" marL="0">
              <a:buNone/>
            </a:pPr>
            <a:r>
              <a:rPr lang="en-US" sz="3000" b="1" dirty="0">
                <a:solidFill>
                  <a:srgbClr val="F38020"/>
                </a:solidFill>
                <a:latin typeface="Cambria" pitchFamily="34" charset="0"/>
                <a:ea typeface="Cambria" pitchFamily="34" charset="-122"/>
                <a:cs typeface="Cambria" pitchFamily="34" charset="-120"/>
              </a:rPr>
              <a:t>3</a:t>
            </a:r>
            <a:endParaRPr lang="en-US" sz="3000" dirty="0"/>
          </a:p>
        </p:txBody>
      </p:sp>
      <p:sp>
        <p:nvSpPr>
          <p:cNvPr id="15" name="Text 12"/>
          <p:cNvSpPr txBox="1"/>
          <p:nvPr/>
        </p:nvSpPr>
        <p:spPr>
          <a:xfrm>
            <a:off x="1508760" y="4224528"/>
            <a:ext cx="4069080" cy="6858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Reproduce Outside the System Under Test</a:t>
            </a:r>
            <a:endParaRPr lang="en-US" sz="1500" dirty="0"/>
          </a:p>
        </p:txBody>
      </p:sp>
      <p:sp>
        <p:nvSpPr>
          <p:cNvPr id="16" name="Text 13"/>
          <p:cNvSpPr txBox="1"/>
          <p:nvPr/>
        </p:nvSpPr>
        <p:spPr>
          <a:xfrm>
            <a:off x="868680" y="4937760"/>
            <a:ext cx="4709160" cy="1051560"/>
          </a:xfrm>
          <a:prstGeom prst="rect">
            <a:avLst/>
          </a:prstGeom>
          <a:noFill/>
          <a:ln/>
        </p:spPr>
        <p:txBody>
          <a:bodyPr wrap="square" lIns="0" tIns="0" rIns="0" bIns="0" rtlCol="0" anchor="ctr"/>
          <a:lstStyle/>
          <a:p>
            <a:pPr indent="0" marL="0">
              <a:lnSpc>
                <a:spcPct val="120000"/>
              </a:lnSpc>
              <a:buNone/>
            </a:pPr>
            <a:r>
              <a:rPr lang="en-US" sz="1130" dirty="0">
                <a:solidFill>
                  <a:srgbClr val="8AA0BE"/>
                </a:solidFill>
                <a:latin typeface="Calibri" pitchFamily="34" charset="0"/>
                <a:ea typeface="Calibri" pitchFamily="34" charset="-122"/>
                <a:cs typeface="Calibri" pitchFamily="34" charset="-120"/>
              </a:rPr>
              <a:t>Direct curl checks against the target site ruled out “is this the Worker's fault” far faster than redeploying and re-testing would have.</a:t>
            </a:r>
            <a:endParaRPr lang="en-US" sz="1130" dirty="0"/>
          </a:p>
        </p:txBody>
      </p:sp>
      <p:sp>
        <p:nvSpPr>
          <p:cNvPr id="17" name="Shape 14"/>
          <p:cNvSpPr/>
          <p:nvPr/>
        </p:nvSpPr>
        <p:spPr>
          <a:xfrm>
            <a:off x="6172200" y="4023360"/>
            <a:ext cx="5166360" cy="2103120"/>
          </a:xfrm>
          <a:prstGeom prst="roundRect">
            <a:avLst>
              <a:gd name="adj" fmla="val 3913"/>
            </a:avLst>
          </a:prstGeom>
          <a:solidFill>
            <a:srgbClr val="141F38"/>
          </a:solidFill>
          <a:ln/>
        </p:spPr>
      </p:sp>
      <p:sp>
        <p:nvSpPr>
          <p:cNvPr id="18" name="Text 15"/>
          <p:cNvSpPr txBox="1"/>
          <p:nvPr/>
        </p:nvSpPr>
        <p:spPr>
          <a:xfrm>
            <a:off x="6400800" y="4206240"/>
            <a:ext cx="640080" cy="548640"/>
          </a:xfrm>
          <a:prstGeom prst="rect">
            <a:avLst/>
          </a:prstGeom>
          <a:noFill/>
          <a:ln/>
        </p:spPr>
        <p:txBody>
          <a:bodyPr wrap="square" lIns="0" tIns="0" rIns="0" bIns="0" rtlCol="0" anchor="ctr"/>
          <a:lstStyle/>
          <a:p>
            <a:pPr indent="0" marL="0">
              <a:buNone/>
            </a:pPr>
            <a:r>
              <a:rPr lang="en-US" sz="3000" b="1" dirty="0">
                <a:solidFill>
                  <a:srgbClr val="F38020"/>
                </a:solidFill>
                <a:latin typeface="Cambria" pitchFamily="34" charset="0"/>
                <a:ea typeface="Cambria" pitchFamily="34" charset="-122"/>
                <a:cs typeface="Cambria" pitchFamily="34" charset="-120"/>
              </a:rPr>
              <a:t>4</a:t>
            </a:r>
            <a:endParaRPr lang="en-US" sz="3000" dirty="0"/>
          </a:p>
        </p:txBody>
      </p:sp>
      <p:sp>
        <p:nvSpPr>
          <p:cNvPr id="19" name="Text 16"/>
          <p:cNvSpPr txBox="1"/>
          <p:nvPr/>
        </p:nvSpPr>
        <p:spPr>
          <a:xfrm>
            <a:off x="7040880" y="4224528"/>
            <a:ext cx="4069080" cy="68580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Config Drift Is a Real Failure Mode</a:t>
            </a:r>
            <a:endParaRPr lang="en-US" sz="1500" dirty="0"/>
          </a:p>
        </p:txBody>
      </p:sp>
      <p:sp>
        <p:nvSpPr>
          <p:cNvPr id="20" name="Text 17"/>
          <p:cNvSpPr txBox="1"/>
          <p:nvPr/>
        </p:nvSpPr>
        <p:spPr>
          <a:xfrm>
            <a:off x="6400800" y="4937760"/>
            <a:ext cx="4709160" cy="1051560"/>
          </a:xfrm>
          <a:prstGeom prst="rect">
            <a:avLst/>
          </a:prstGeom>
          <a:noFill/>
          <a:ln/>
        </p:spPr>
        <p:txBody>
          <a:bodyPr wrap="square" lIns="0" tIns="0" rIns="0" bIns="0" rtlCol="0" anchor="ctr"/>
          <a:lstStyle/>
          <a:p>
            <a:pPr indent="0" marL="0">
              <a:lnSpc>
                <a:spcPct val="120000"/>
              </a:lnSpc>
              <a:buNone/>
            </a:pPr>
            <a:r>
              <a:rPr lang="en-US" sz="1130" dirty="0">
                <a:solidFill>
                  <a:srgbClr val="8AA0BE"/>
                </a:solidFill>
                <a:latin typeface="Calibri" pitchFamily="34" charset="0"/>
                <a:ea typeface="Calibri" pitchFamily="34" charset="-122"/>
                <a:cs typeface="Calibri" pitchFamily="34" charset="-120"/>
              </a:rPr>
              <a:t>Two separate regressions traced back to wrangler.toml being edited outside the normal deploy flow. Worth solving as a process problem, not just re-fixing the symptom each time.</a:t>
            </a:r>
            <a:endParaRPr lang="en-US" sz="1130" dirty="0"/>
          </a:p>
        </p:txBody>
      </p:sp>
      <p:sp>
        <p:nvSpPr>
          <p:cNvPr id="21" name="Text 18"/>
          <p:cNvSpPr txBox="1"/>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8AA0BE"/>
                </a:solidFill>
                <a:latin typeface="Calibri" pitchFamily="34" charset="0"/>
                <a:ea typeface="Calibri" pitchFamily="34" charset="-122"/>
                <a:cs typeface="Calibri" pitchFamily="34" charset="-120"/>
              </a:rPr>
              <a:t>Company Values Extractor  ·  Debugging Retrospective</a:t>
            </a:r>
            <a:endParaRPr lang="en-US" sz="900" dirty="0"/>
          </a:p>
        </p:txBody>
      </p:sp>
      <p:sp>
        <p:nvSpPr>
          <p:cNvPr id="22" name="Text 19"/>
          <p:cNvSpPr txBox="1"/>
          <p:nvPr/>
        </p:nvSpPr>
        <p:spPr>
          <a:xfrm>
            <a:off x="11002975" y="6519672"/>
            <a:ext cx="548640" cy="274320"/>
          </a:xfrm>
          <a:prstGeom prst="rect">
            <a:avLst/>
          </a:prstGeom>
          <a:noFill/>
          <a:ln/>
        </p:spPr>
        <p:txBody>
          <a:bodyPr wrap="square" lIns="0" tIns="0" rIns="0" bIns="0" rtlCol="0" anchor="ctr"/>
          <a:lstStyle/>
          <a:p>
            <a:pPr algn="r" indent="0" marL="0">
              <a:buNone/>
            </a:pPr>
            <a:r>
              <a:rPr lang="en-US" sz="900" dirty="0">
                <a:solidFill>
                  <a:srgbClr val="8AA0B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68680" y="1234440"/>
            <a:ext cx="960120" cy="960120"/>
          </a:xfrm>
          <a:prstGeom prst="rect">
            <a:avLst/>
          </a:prstGeom>
        </p:spPr>
      </p:pic>
      <p:sp>
        <p:nvSpPr>
          <p:cNvPr id="3" name="Text 0"/>
          <p:cNvSpPr txBox="1"/>
          <p:nvPr/>
        </p:nvSpPr>
        <p:spPr>
          <a:xfrm>
            <a:off x="822960" y="237744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1"/>
          <p:cNvSpPr txBox="1"/>
          <p:nvPr/>
        </p:nvSpPr>
        <p:spPr>
          <a:xfrm>
            <a:off x="868680" y="3246120"/>
            <a:ext cx="9144000" cy="365760"/>
          </a:xfrm>
          <a:prstGeom prst="rect">
            <a:avLst/>
          </a:prstGeom>
          <a:noFill/>
          <a:ln/>
        </p:spPr>
        <p:txBody>
          <a:bodyPr wrap="square" lIns="0" tIns="0" rIns="0" bIns="0" rtlCol="0" anchor="ctr"/>
          <a:lstStyle/>
          <a:p>
            <a:pPr indent="0" marL="0">
              <a:buNone/>
            </a:pPr>
            <a:r>
              <a:rPr lang="en-US" sz="1500" dirty="0">
                <a:solidFill>
                  <a:srgbClr val="EAF0F6"/>
                </a:solidFill>
                <a:latin typeface="Calibri" pitchFamily="34" charset="0"/>
                <a:ea typeface="Calibri" pitchFamily="34" charset="-122"/>
                <a:cs typeface="Calibri" pitchFamily="34" charset="-120"/>
              </a:rPr>
              <a:t>Full detail lives in the repo:</a:t>
            </a:r>
            <a:endParaRPr lang="en-US" sz="1500" dirty="0"/>
          </a:p>
        </p:txBody>
      </p:sp>
      <p:sp>
        <p:nvSpPr>
          <p:cNvPr id="5" name="Text 2"/>
          <p:cNvSpPr txBox="1"/>
          <p:nvPr/>
        </p:nvSpPr>
        <p:spPr>
          <a:xfrm>
            <a:off x="868680" y="3749040"/>
            <a:ext cx="3291840" cy="365760"/>
          </a:xfrm>
          <a:prstGeom prst="rect">
            <a:avLst/>
          </a:prstGeom>
          <a:noFill/>
          <a:ln/>
        </p:spPr>
        <p:txBody>
          <a:bodyPr wrap="square" lIns="0" tIns="0" rIns="0" bIns="0" rtlCol="0" anchor="ctr"/>
          <a:lstStyle/>
          <a:p>
            <a:pPr indent="0" marL="0">
              <a:buNone/>
            </a:pPr>
            <a:r>
              <a:rPr lang="en-US" sz="1400" b="1" dirty="0">
                <a:solidFill>
                  <a:srgbClr val="F38020"/>
                </a:solidFill>
                <a:latin typeface="Courier New" pitchFamily="34" charset="0"/>
                <a:ea typeface="Courier New" pitchFamily="34" charset="-122"/>
                <a:cs typeface="Courier New" pitchFamily="34" charset="-120"/>
              </a:rPr>
              <a:t>README.md</a:t>
            </a:r>
            <a:endParaRPr lang="en-US" sz="1400" dirty="0"/>
          </a:p>
        </p:txBody>
      </p:sp>
      <p:sp>
        <p:nvSpPr>
          <p:cNvPr id="6" name="Text 3"/>
          <p:cNvSpPr txBox="1"/>
          <p:nvPr/>
        </p:nvSpPr>
        <p:spPr>
          <a:xfrm>
            <a:off x="4251960" y="3749040"/>
            <a:ext cx="6675120" cy="365760"/>
          </a:xfrm>
          <a:prstGeom prst="rect">
            <a:avLst/>
          </a:prstGeom>
          <a:noFill/>
          <a:ln/>
        </p:spPr>
        <p:txBody>
          <a:bodyPr wrap="square" lIns="0" tIns="0" rIns="0" bIns="0" rtlCol="0" anchor="ctr"/>
          <a:lstStyle/>
          <a:p>
            <a:pPr indent="0" marL="0">
              <a:buNone/>
            </a:pPr>
            <a:r>
              <a:rPr lang="en-US" sz="1300" dirty="0">
                <a:solidFill>
                  <a:srgbClr val="8AA0BE"/>
                </a:solidFill>
                <a:latin typeface="Calibri" pitchFamily="34" charset="0"/>
                <a:ea typeface="Calibri" pitchFamily="34" charset="-122"/>
                <a:cs typeface="Calibri" pitchFamily="34" charset="-120"/>
              </a:rPr>
              <a:t>Endpoints, deployment, and secret management</a:t>
            </a:r>
            <a:endParaRPr lang="en-US" sz="1300" dirty="0"/>
          </a:p>
        </p:txBody>
      </p:sp>
      <p:sp>
        <p:nvSpPr>
          <p:cNvPr id="7" name="Text 4"/>
          <p:cNvSpPr txBox="1"/>
          <p:nvPr/>
        </p:nvSpPr>
        <p:spPr>
          <a:xfrm>
            <a:off x="868680" y="4206240"/>
            <a:ext cx="3291840" cy="365760"/>
          </a:xfrm>
          <a:prstGeom prst="rect">
            <a:avLst/>
          </a:prstGeom>
          <a:noFill/>
          <a:ln/>
        </p:spPr>
        <p:txBody>
          <a:bodyPr wrap="square" lIns="0" tIns="0" rIns="0" bIns="0" rtlCol="0" anchor="ctr"/>
          <a:lstStyle/>
          <a:p>
            <a:pPr indent="0" marL="0">
              <a:buNone/>
            </a:pPr>
            <a:r>
              <a:rPr lang="en-US" sz="1400" b="1" dirty="0">
                <a:solidFill>
                  <a:srgbClr val="F38020"/>
                </a:solidFill>
                <a:latin typeface="Courier New" pitchFamily="34" charset="0"/>
                <a:ea typeface="Courier New" pitchFamily="34" charset="-122"/>
                <a:cs typeface="Courier New" pitchFamily="34" charset="-120"/>
              </a:rPr>
              <a:t>docs/decision.md</a:t>
            </a:r>
            <a:endParaRPr lang="en-US" sz="1400" dirty="0"/>
          </a:p>
        </p:txBody>
      </p:sp>
      <p:sp>
        <p:nvSpPr>
          <p:cNvPr id="8" name="Text 5"/>
          <p:cNvSpPr txBox="1"/>
          <p:nvPr/>
        </p:nvSpPr>
        <p:spPr>
          <a:xfrm>
            <a:off x="4251960" y="4206240"/>
            <a:ext cx="6675120" cy="365760"/>
          </a:xfrm>
          <a:prstGeom prst="rect">
            <a:avLst/>
          </a:prstGeom>
          <a:noFill/>
          <a:ln/>
        </p:spPr>
        <p:txBody>
          <a:bodyPr wrap="square" lIns="0" tIns="0" rIns="0" bIns="0" rtlCol="0" anchor="ctr"/>
          <a:lstStyle/>
          <a:p>
            <a:pPr indent="0" marL="0">
              <a:buNone/>
            </a:pPr>
            <a:r>
              <a:rPr lang="en-US" sz="1300" dirty="0">
                <a:solidFill>
                  <a:srgbClr val="8AA0BE"/>
                </a:solidFill>
                <a:latin typeface="Calibri" pitchFamily="34" charset="0"/>
                <a:ea typeface="Calibri" pitchFamily="34" charset="-122"/>
                <a:cs typeface="Calibri" pitchFamily="34" charset="-120"/>
              </a:rPr>
              <a:t>The full chronological decision log behind this deck</a:t>
            </a:r>
            <a:endParaRPr lang="en-US" sz="1300" dirty="0"/>
          </a:p>
        </p:txBody>
      </p:sp>
      <p:sp>
        <p:nvSpPr>
          <p:cNvPr id="9" name="Text 6"/>
          <p:cNvSpPr txBox="1"/>
          <p:nvPr/>
        </p:nvSpPr>
        <p:spPr>
          <a:xfrm>
            <a:off x="868680" y="4663440"/>
            <a:ext cx="3291840" cy="365760"/>
          </a:xfrm>
          <a:prstGeom prst="rect">
            <a:avLst/>
          </a:prstGeom>
          <a:noFill/>
          <a:ln/>
        </p:spPr>
        <p:txBody>
          <a:bodyPr wrap="square" lIns="0" tIns="0" rIns="0" bIns="0" rtlCol="0" anchor="ctr"/>
          <a:lstStyle/>
          <a:p>
            <a:pPr indent="0" marL="0">
              <a:buNone/>
            </a:pPr>
            <a:r>
              <a:rPr lang="en-US" sz="1400" b="1" dirty="0">
                <a:solidFill>
                  <a:srgbClr val="F38020"/>
                </a:solidFill>
                <a:latin typeface="Courier New" pitchFamily="34" charset="0"/>
                <a:ea typeface="Courier New" pitchFamily="34" charset="-122"/>
                <a:cs typeface="Courier New" pitchFamily="34" charset="-120"/>
              </a:rPr>
              <a:t>docs/cloudflare-skill.md</a:t>
            </a:r>
            <a:endParaRPr lang="en-US" sz="1400" dirty="0"/>
          </a:p>
        </p:txBody>
      </p:sp>
      <p:sp>
        <p:nvSpPr>
          <p:cNvPr id="10" name="Text 7"/>
          <p:cNvSpPr txBox="1"/>
          <p:nvPr/>
        </p:nvSpPr>
        <p:spPr>
          <a:xfrm>
            <a:off x="4251960" y="4663440"/>
            <a:ext cx="6675120" cy="365760"/>
          </a:xfrm>
          <a:prstGeom prst="rect">
            <a:avLst/>
          </a:prstGeom>
          <a:noFill/>
          <a:ln/>
        </p:spPr>
        <p:txBody>
          <a:bodyPr wrap="square" lIns="0" tIns="0" rIns="0" bIns="0" rtlCol="0" anchor="ctr"/>
          <a:lstStyle/>
          <a:p>
            <a:pPr indent="0" marL="0">
              <a:buNone/>
            </a:pPr>
            <a:r>
              <a:rPr lang="en-US" sz="1300" dirty="0">
                <a:solidFill>
                  <a:srgbClr val="8AA0BE"/>
                </a:solidFill>
                <a:latin typeface="Calibri" pitchFamily="34" charset="0"/>
                <a:ea typeface="Calibri" pitchFamily="34" charset="-122"/>
                <a:cs typeface="Calibri" pitchFamily="34" charset="-120"/>
              </a:rPr>
              <a:t>Reusable technical lessons for the next Cloudflare Worker</a:t>
            </a:r>
            <a:endParaRPr lang="en-US" sz="1300" dirty="0"/>
          </a:p>
        </p:txBody>
      </p:sp>
      <p:sp>
        <p:nvSpPr>
          <p:cNvPr id="11" name="Text 8"/>
          <p:cNvSpPr txBox="1"/>
          <p:nvPr/>
        </p:nvSpPr>
        <p:spPr>
          <a:xfrm>
            <a:off x="868680" y="6263640"/>
            <a:ext cx="10058400" cy="320040"/>
          </a:xfrm>
          <a:prstGeom prst="rect">
            <a:avLst/>
          </a:prstGeom>
          <a:noFill/>
          <a:ln/>
        </p:spPr>
        <p:txBody>
          <a:bodyPr wrap="square" lIns="0" tIns="0" rIns="0" bIns="0" rtlCol="0" anchor="ctr"/>
          <a:lstStyle/>
          <a:p>
            <a:pPr indent="0" marL="0">
              <a:buNone/>
            </a:pPr>
            <a:r>
              <a:rPr lang="en-US" sz="1100" dirty="0">
                <a:solidFill>
                  <a:srgbClr val="8AA0BE"/>
                </a:solidFill>
                <a:latin typeface="Calibri" pitchFamily="34" charset="0"/>
                <a:ea typeface="Calibri" pitchFamily="34" charset="-122"/>
                <a:cs typeface="Calibri" pitchFamily="34" charset="-120"/>
              </a:rPr>
              <a:t>Company Values Extractor  ·  Cloudflare Workers + Workers AI + Browser Rendering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2026-08-27T12:06:10Z</dcterms:created>
  <dcterms:modified xsi:type="dcterms:W3CDTF">2026-08-27T12:06:10Z</dcterms:modified>
</cp:coreProperties>
</file>